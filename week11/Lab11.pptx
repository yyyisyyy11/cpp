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2"/>
    <p:sldId id="1115" r:id="rId3"/>
    <p:sldId id="1065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679" autoAdjust="0"/>
    <p:restoredTop sz="94660"/>
  </p:normalViewPr>
  <p:slideViewPr>
    <p:cSldViewPr snapToGrid="0">
      <p:cViewPr varScale="1">
        <p:scale>
          <a:sx n="143" d="100"/>
          <a:sy n="143" d="100"/>
        </p:scale>
        <p:origin x="91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237EF7-A117-46B7-88A8-1B7FB98FF0F2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705520-EB74-4E10-9207-DDFEA7EA0F0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534740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987522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24589" b="40606"/>
          <a:stretch>
            <a:fillRect/>
          </a:stretch>
        </p:blipFill>
        <p:spPr>
          <a:xfrm>
            <a:off x="8610600" y="0"/>
            <a:ext cx="3515893" cy="1007930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76479" y="264221"/>
            <a:ext cx="10515600" cy="833631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99" y="1326995"/>
            <a:ext cx="11053879" cy="4849968"/>
          </a:xfrm>
        </p:spPr>
        <p:txBody>
          <a:bodyPr/>
          <a:lstStyle>
            <a:lvl2pPr marL="914400" indent="-457200">
              <a:buFont typeface="Wingdings" panose="05000000000000000000" pitchFamily="2" charset="2"/>
              <a:buChar char="Ø"/>
              <a:defRPr/>
            </a:lvl2pPr>
            <a:lvl3pPr marL="1143000" indent="-228600">
              <a:buFont typeface="Wingdings" panose="05000000000000000000" pitchFamily="2" charset="2"/>
              <a:buChar char="ü"/>
              <a:defRPr/>
            </a:lvl3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70" y="69174"/>
            <a:ext cx="1112400" cy="1111682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24634" y="365125"/>
            <a:ext cx="9229165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/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70" y="69174"/>
            <a:ext cx="1112400" cy="1111682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10320" y="365125"/>
            <a:ext cx="9245067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1" name="图片 10"/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70" y="69174"/>
            <a:ext cx="1112400" cy="1111682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/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70" y="69174"/>
            <a:ext cx="1112400" cy="1111682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298448" y="365125"/>
            <a:ext cx="10055352" cy="8157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389888"/>
            <a:ext cx="10515600" cy="4787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517904" y="6356350"/>
            <a:ext cx="20634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19A4FA-3D9A-4114-B0D5-759CBD56F1AB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452950"/>
            <a:ext cx="1152144" cy="405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lnSpc>
          <a:spcPct val="90000"/>
        </a:lnSpc>
        <a:spcBef>
          <a:spcPts val="500"/>
        </a:spcBef>
        <a:buFont typeface="Calibri" panose="020F0502020204030204" pitchFamily="34" charset="0"/>
        <a:buChar char="□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07592"/>
            <a:ext cx="9144000" cy="1772603"/>
          </a:xfrm>
        </p:spPr>
        <p:txBody>
          <a:bodyPr>
            <a:noAutofit/>
          </a:bodyPr>
          <a:lstStyle/>
          <a:p>
            <a:r>
              <a:rPr lang="en-US" altLang="zh-CN" b="1" dirty="0">
                <a:latin typeface="Franklin Gothic Demi" panose="020B0703020102020204" pitchFamily="34" charset="0"/>
                <a:sym typeface="+mn-ea"/>
              </a:rPr>
              <a:t>Advanced</a:t>
            </a:r>
            <a:r>
              <a:rPr lang="zh-CN" altLang="en-US" b="1" dirty="0">
                <a:latin typeface="Franklin Gothic Demi" panose="020B0703020102020204" pitchFamily="34" charset="0"/>
                <a:sym typeface="+mn-ea"/>
              </a:rPr>
              <a:t> </a:t>
            </a:r>
            <a:r>
              <a:rPr lang="en-US" altLang="zh-CN" b="1" dirty="0">
                <a:latin typeface="Franklin Gothic Demi" panose="020B0703020102020204" pitchFamily="34" charset="0"/>
                <a:sym typeface="+mn-ea"/>
              </a:rPr>
              <a:t>Programming</a:t>
            </a:r>
            <a:endParaRPr lang="zh-CN" altLang="en-US" b="1" dirty="0">
              <a:latin typeface="Franklin Gothic Demi" panose="020B0703020102020204" pitchFamily="34" charset="0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219199" y="3233141"/>
            <a:ext cx="10040471" cy="2767054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latin typeface="Franklin Gothic Medium" panose="020B0603020102020204" pitchFamily="34" charset="0"/>
                <a:sym typeface="+mn-ea"/>
              </a:rPr>
              <a:t>Lab 11, dynamic memory in classes</a:t>
            </a:r>
            <a:endParaRPr lang="en-US" altLang="zh-CN" sz="3600" dirty="0">
              <a:latin typeface="Franklin Gothic Medium" panose="020B0603020102020204" pitchFamily="34" charset="0"/>
            </a:endParaRPr>
          </a:p>
          <a:p>
            <a:endParaRPr lang="en-US" altLang="zh-CN" sz="3600" dirty="0">
              <a:latin typeface="Franklin Gothic Medium" panose="020B0603020102020204" pitchFamily="34" charset="0"/>
            </a:endParaRPr>
          </a:p>
          <a:p>
            <a:endParaRPr lang="en-US" altLang="zh-CN" dirty="0">
              <a:latin typeface="Franklin Gothic Medium" panose="020B0603020102020204" pitchFamily="34" charset="0"/>
            </a:endParaRPr>
          </a:p>
          <a:p>
            <a:r>
              <a:rPr lang="zh-CN" altLang="en-US" dirty="0">
                <a:latin typeface="Franklin Gothic Medium" panose="020B0603020102020204" pitchFamily="34" charset="0"/>
                <a:sym typeface="+mn-ea"/>
              </a:rPr>
              <a:t>廖琪梅，王大兴，于仕琪，王薇</a:t>
            </a:r>
            <a:endParaRPr lang="en-US" altLang="zh-CN" dirty="0">
              <a:latin typeface="Franklin Gothic Medium" panose="020B0603020102020204" pitchFamily="34" charset="0"/>
            </a:endParaRPr>
          </a:p>
          <a:p>
            <a:endParaRPr lang="en-US" altLang="zh-CN" dirty="0">
              <a:latin typeface="Franklin Gothic Medium" panose="020B06030201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Exercise: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884425" y="1330800"/>
            <a:ext cx="521157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1. Could the program be compiled successfully? Why? Modify the program until it passes the compilation. Then run the program. What will happen? Explain the result.</a:t>
            </a:r>
            <a:endParaRPr lang="zh-CN" altLang="en-US" sz="2400" dirty="0"/>
          </a:p>
        </p:txBody>
      </p:sp>
      <p:sp>
        <p:nvSpPr>
          <p:cNvPr id="8" name="文本框 7"/>
          <p:cNvSpPr txBox="1"/>
          <p:nvPr/>
        </p:nvSpPr>
        <p:spPr>
          <a:xfrm>
            <a:off x="7035546" y="838357"/>
            <a:ext cx="4394454" cy="4524315"/>
          </a:xfrm>
          <a:prstGeom prst="rect">
            <a:avLst/>
          </a:prstGeom>
          <a:solidFill>
            <a:schemeClr val="bg2"/>
          </a:solidFill>
          <a:ln>
            <a:solidFill>
              <a:srgbClr val="0000CC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b="0" dirty="0">
                <a:effectLst/>
              </a:rPr>
              <a:t>#include &lt;iostream&gt;</a:t>
            </a:r>
          </a:p>
          <a:p>
            <a:r>
              <a:rPr lang="en-US" altLang="zh-CN" sz="1600" b="0" dirty="0">
                <a:effectLst/>
              </a:rPr>
              <a:t>#include &lt;memory&gt;</a:t>
            </a:r>
          </a:p>
          <a:p>
            <a:r>
              <a:rPr lang="en-US" altLang="zh-CN" sz="1600" b="0" dirty="0">
                <a:effectLst/>
              </a:rPr>
              <a:t>using namespace std;</a:t>
            </a:r>
          </a:p>
          <a:p>
            <a:r>
              <a:rPr lang="en-US" altLang="zh-CN" sz="1600" b="0" dirty="0">
                <a:effectLst/>
              </a:rPr>
              <a:t>int main()</a:t>
            </a:r>
          </a:p>
          <a:p>
            <a:r>
              <a:rPr lang="en-US" altLang="zh-CN" sz="1600" b="0" dirty="0">
                <a:effectLst/>
              </a:rPr>
              <a:t>{</a:t>
            </a:r>
          </a:p>
          <a:p>
            <a:r>
              <a:rPr lang="en-US" altLang="zh-CN" sz="1600" b="0" dirty="0">
                <a:effectLst/>
              </a:rPr>
              <a:t>    double *</a:t>
            </a:r>
            <a:r>
              <a:rPr lang="en-US" altLang="zh-CN" sz="1600" b="0" dirty="0" err="1">
                <a:effectLst/>
              </a:rPr>
              <a:t>p_reg</a:t>
            </a:r>
            <a:r>
              <a:rPr lang="en-US" altLang="zh-CN" sz="1600" b="0" dirty="0">
                <a:effectLst/>
              </a:rPr>
              <a:t> = new double(5);</a:t>
            </a:r>
          </a:p>
          <a:p>
            <a:r>
              <a:rPr lang="en-US" altLang="zh-CN" sz="1600" b="0" dirty="0">
                <a:effectLst/>
              </a:rPr>
              <a:t>    </a:t>
            </a:r>
            <a:r>
              <a:rPr lang="en-US" altLang="zh-CN" sz="1600" b="0" dirty="0" err="1">
                <a:effectLst/>
              </a:rPr>
              <a:t>shared_ptr</a:t>
            </a:r>
            <a:r>
              <a:rPr lang="en-US" altLang="zh-CN" sz="1600" b="0" dirty="0">
                <a:effectLst/>
              </a:rPr>
              <a:t>&lt;double&gt; pd;</a:t>
            </a:r>
          </a:p>
          <a:p>
            <a:r>
              <a:rPr lang="en-US" altLang="zh-CN" sz="1600" b="0" dirty="0">
                <a:effectLst/>
              </a:rPr>
              <a:t>    pd = </a:t>
            </a:r>
            <a:r>
              <a:rPr lang="en-US" altLang="zh-CN" sz="1600" b="0" dirty="0" err="1">
                <a:effectLst/>
              </a:rPr>
              <a:t>p_reg</a:t>
            </a:r>
            <a:r>
              <a:rPr lang="en-US" altLang="zh-CN" sz="1600" b="0" dirty="0">
                <a:effectLst/>
              </a:rPr>
              <a:t>;     </a:t>
            </a:r>
          </a:p>
          <a:p>
            <a:r>
              <a:rPr lang="en-US" altLang="zh-CN" sz="1600" b="0" dirty="0">
                <a:effectLst/>
              </a:rPr>
              <a:t>    pd = </a:t>
            </a:r>
            <a:r>
              <a:rPr lang="en-US" altLang="zh-CN" sz="1600" b="0" dirty="0" err="1">
                <a:effectLst/>
              </a:rPr>
              <a:t>shared_ptr</a:t>
            </a:r>
            <a:r>
              <a:rPr lang="en-US" altLang="zh-CN" sz="1600" b="0" dirty="0">
                <a:effectLst/>
              </a:rPr>
              <a:t>&lt;double&gt;(</a:t>
            </a:r>
            <a:r>
              <a:rPr lang="en-US" altLang="zh-CN" sz="1600" b="0" dirty="0" err="1">
                <a:effectLst/>
              </a:rPr>
              <a:t>p_reg</a:t>
            </a:r>
            <a:r>
              <a:rPr lang="en-US" altLang="zh-CN" sz="1600" b="0" dirty="0">
                <a:effectLst/>
              </a:rPr>
              <a:t>); </a:t>
            </a:r>
          </a:p>
          <a:p>
            <a:r>
              <a:rPr lang="en-US" altLang="zh-CN" sz="1600" b="0" dirty="0">
                <a:effectLst/>
              </a:rPr>
              <a:t>    </a:t>
            </a:r>
            <a:r>
              <a:rPr lang="en-US" altLang="zh-CN" sz="1600" b="0" dirty="0" err="1">
                <a:effectLst/>
              </a:rPr>
              <a:t>cout</a:t>
            </a:r>
            <a:r>
              <a:rPr lang="en-US" altLang="zh-CN" sz="1600" b="0" dirty="0">
                <a:effectLst/>
              </a:rPr>
              <a:t> &lt;&lt; "*pd = " &lt;&lt; *pd &lt;&lt; </a:t>
            </a:r>
            <a:r>
              <a:rPr lang="en-US" altLang="zh-CN" sz="1600" b="0" dirty="0" err="1">
                <a:effectLst/>
              </a:rPr>
              <a:t>endl</a:t>
            </a:r>
            <a:r>
              <a:rPr lang="en-US" altLang="zh-CN" sz="1600" b="0" dirty="0">
                <a:effectLst/>
              </a:rPr>
              <a:t>;</a:t>
            </a:r>
          </a:p>
          <a:p>
            <a:r>
              <a:rPr lang="en-US" altLang="zh-CN" sz="1600" b="0" dirty="0">
                <a:effectLst/>
              </a:rPr>
              <a:t>    </a:t>
            </a:r>
            <a:r>
              <a:rPr lang="en-US" altLang="zh-CN" sz="1600" b="0" dirty="0" err="1">
                <a:effectLst/>
              </a:rPr>
              <a:t>shared_ptr</a:t>
            </a:r>
            <a:r>
              <a:rPr lang="en-US" altLang="zh-CN" sz="1600" b="0" dirty="0">
                <a:effectLst/>
              </a:rPr>
              <a:t>&lt;double&gt; </a:t>
            </a:r>
            <a:r>
              <a:rPr lang="en-US" altLang="zh-CN" sz="1600" b="0" dirty="0" err="1">
                <a:effectLst/>
              </a:rPr>
              <a:t>pshared</a:t>
            </a:r>
            <a:r>
              <a:rPr lang="en-US" altLang="zh-CN" sz="1600" b="0" dirty="0">
                <a:effectLst/>
              </a:rPr>
              <a:t> = </a:t>
            </a:r>
            <a:r>
              <a:rPr lang="en-US" altLang="zh-CN" sz="1600" b="0" dirty="0" err="1">
                <a:effectLst/>
              </a:rPr>
              <a:t>p_reg</a:t>
            </a:r>
            <a:r>
              <a:rPr lang="en-US" altLang="zh-CN" sz="1600" b="0" dirty="0">
                <a:effectLst/>
              </a:rPr>
              <a:t>; </a:t>
            </a:r>
          </a:p>
          <a:p>
            <a:r>
              <a:rPr lang="en-US" altLang="zh-CN" sz="1600" b="0" dirty="0">
                <a:effectLst/>
              </a:rPr>
              <a:t>    </a:t>
            </a:r>
            <a:r>
              <a:rPr lang="en-US" altLang="zh-CN" sz="1600" b="0" dirty="0" err="1">
                <a:effectLst/>
              </a:rPr>
              <a:t>shared_ptr</a:t>
            </a:r>
            <a:r>
              <a:rPr lang="en-US" altLang="zh-CN" sz="1600" b="0" dirty="0">
                <a:effectLst/>
              </a:rPr>
              <a:t>&lt;double&gt; </a:t>
            </a:r>
            <a:r>
              <a:rPr lang="en-US" altLang="zh-CN" sz="1600" b="0" dirty="0" err="1">
                <a:effectLst/>
              </a:rPr>
              <a:t>pshared</a:t>
            </a:r>
            <a:r>
              <a:rPr lang="en-US" altLang="zh-CN" sz="1600" b="0" dirty="0">
                <a:effectLst/>
              </a:rPr>
              <a:t>(</a:t>
            </a:r>
            <a:r>
              <a:rPr lang="en-US" altLang="zh-CN" sz="1600" b="0" dirty="0" err="1">
                <a:effectLst/>
              </a:rPr>
              <a:t>p_reg</a:t>
            </a:r>
            <a:r>
              <a:rPr lang="en-US" altLang="zh-CN" sz="1600" b="0" dirty="0">
                <a:effectLst/>
              </a:rPr>
              <a:t>); </a:t>
            </a:r>
          </a:p>
          <a:p>
            <a:r>
              <a:rPr lang="en-US" altLang="zh-CN" sz="1600" b="0" dirty="0">
                <a:effectLst/>
              </a:rPr>
              <a:t>    </a:t>
            </a:r>
            <a:r>
              <a:rPr lang="en-US" altLang="zh-CN" sz="1600" b="0" dirty="0" err="1">
                <a:effectLst/>
              </a:rPr>
              <a:t>cout</a:t>
            </a:r>
            <a:r>
              <a:rPr lang="en-US" altLang="zh-CN" sz="1600" b="0" dirty="0">
                <a:effectLst/>
              </a:rPr>
              <a:t> &lt;&lt; "*</a:t>
            </a:r>
            <a:r>
              <a:rPr lang="en-US" altLang="zh-CN" sz="1600" b="0" dirty="0" err="1">
                <a:effectLst/>
              </a:rPr>
              <a:t>pshred</a:t>
            </a:r>
            <a:r>
              <a:rPr lang="en-US" altLang="zh-CN" sz="1600" b="0" dirty="0">
                <a:effectLst/>
              </a:rPr>
              <a:t> = " &lt;&lt; *</a:t>
            </a:r>
            <a:r>
              <a:rPr lang="en-US" altLang="zh-CN" sz="1600" b="0" dirty="0" err="1">
                <a:effectLst/>
              </a:rPr>
              <a:t>pshared</a:t>
            </a:r>
            <a:r>
              <a:rPr lang="en-US" altLang="zh-CN" sz="1600" b="0" dirty="0">
                <a:effectLst/>
              </a:rPr>
              <a:t> &lt;&lt; </a:t>
            </a:r>
            <a:r>
              <a:rPr lang="en-US" altLang="zh-CN" sz="1600" b="0" dirty="0" err="1">
                <a:effectLst/>
              </a:rPr>
              <a:t>endl</a:t>
            </a:r>
            <a:r>
              <a:rPr lang="en-US" altLang="zh-CN" sz="1600" b="0" dirty="0">
                <a:effectLst/>
              </a:rPr>
              <a:t>;</a:t>
            </a:r>
          </a:p>
          <a:p>
            <a:r>
              <a:rPr lang="en-US" altLang="zh-CN" sz="1600" b="0" dirty="0">
                <a:effectLst/>
              </a:rPr>
              <a:t>    string str("Hello World!");</a:t>
            </a:r>
          </a:p>
          <a:p>
            <a:r>
              <a:rPr lang="en-US" altLang="zh-CN" sz="1600" b="0" dirty="0">
                <a:effectLst/>
              </a:rPr>
              <a:t>    </a:t>
            </a:r>
            <a:r>
              <a:rPr lang="en-US" altLang="zh-CN" sz="1600" b="0" dirty="0" err="1">
                <a:effectLst/>
              </a:rPr>
              <a:t>shared_ptr</a:t>
            </a:r>
            <a:r>
              <a:rPr lang="en-US" altLang="zh-CN" sz="1600" b="0" dirty="0">
                <a:effectLst/>
              </a:rPr>
              <a:t>&lt;string&gt; </a:t>
            </a:r>
            <a:r>
              <a:rPr lang="en-US" altLang="zh-CN" sz="1600" b="0" dirty="0" err="1">
                <a:effectLst/>
              </a:rPr>
              <a:t>pstr</a:t>
            </a:r>
            <a:r>
              <a:rPr lang="en-US" altLang="zh-CN" sz="1600" b="0" dirty="0">
                <a:effectLst/>
              </a:rPr>
              <a:t>(&amp;str); </a:t>
            </a:r>
          </a:p>
          <a:p>
            <a:r>
              <a:rPr lang="en-US" altLang="zh-CN" sz="1600" b="0" dirty="0">
                <a:effectLst/>
              </a:rPr>
              <a:t>    </a:t>
            </a:r>
            <a:r>
              <a:rPr lang="en-US" altLang="zh-CN" sz="1600" b="0" dirty="0" err="1">
                <a:effectLst/>
              </a:rPr>
              <a:t>cout</a:t>
            </a:r>
            <a:r>
              <a:rPr lang="en-US" altLang="zh-CN" sz="1600" b="0" dirty="0">
                <a:effectLst/>
              </a:rPr>
              <a:t> &lt;&lt; "*</a:t>
            </a:r>
            <a:r>
              <a:rPr lang="en-US" altLang="zh-CN" sz="1600" b="0" dirty="0" err="1">
                <a:effectLst/>
              </a:rPr>
              <a:t>pstr</a:t>
            </a:r>
            <a:r>
              <a:rPr lang="en-US" altLang="zh-CN" sz="1600" b="0" dirty="0">
                <a:effectLst/>
              </a:rPr>
              <a:t> = " &lt;&lt; *</a:t>
            </a:r>
            <a:r>
              <a:rPr lang="en-US" altLang="zh-CN" sz="1600" b="0" dirty="0" err="1">
                <a:effectLst/>
              </a:rPr>
              <a:t>pstr</a:t>
            </a:r>
            <a:r>
              <a:rPr lang="en-US" altLang="zh-CN" sz="1600" b="0" dirty="0">
                <a:effectLst/>
              </a:rPr>
              <a:t> &lt;&lt; </a:t>
            </a:r>
            <a:r>
              <a:rPr lang="en-US" altLang="zh-CN" sz="1600" b="0" dirty="0" err="1">
                <a:effectLst/>
              </a:rPr>
              <a:t>endl</a:t>
            </a:r>
            <a:r>
              <a:rPr lang="en-US" altLang="zh-CN" sz="1600" b="0" dirty="0">
                <a:effectLst/>
              </a:rPr>
              <a:t>;</a:t>
            </a:r>
          </a:p>
          <a:p>
            <a:r>
              <a:rPr lang="en-US" altLang="zh-CN" sz="1600" b="0" dirty="0">
                <a:effectLst/>
              </a:rPr>
              <a:t>    return 0;</a:t>
            </a:r>
          </a:p>
          <a:p>
            <a:r>
              <a:rPr lang="en-US" altLang="zh-CN" sz="1600" b="0" dirty="0">
                <a:effectLst/>
              </a:rPr>
              <a:t>}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Exercise: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8279" y="1206920"/>
            <a:ext cx="11366701" cy="5020017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altLang="zh-CN" dirty="0"/>
              <a:t>2.</a:t>
            </a:r>
            <a:r>
              <a:rPr lang="en-US" altLang="zh-CN" sz="2800" dirty="0"/>
              <a:t> Create a class Matrix to describe a matrix. The element type is float. One  member of the class is </a:t>
            </a:r>
            <a:r>
              <a:rPr lang="en-US" altLang="zh-CN" sz="2800" dirty="0">
                <a:solidFill>
                  <a:srgbClr val="0000CC"/>
                </a:solidFill>
              </a:rPr>
              <a:t>a</a:t>
            </a:r>
            <a:r>
              <a:rPr lang="zh-CN" altLang="en-US" sz="2800" dirty="0">
                <a:solidFill>
                  <a:srgbClr val="0000CC"/>
                </a:solidFill>
              </a:rPr>
              <a:t> </a:t>
            </a:r>
            <a:r>
              <a:rPr lang="en-US" altLang="zh-CN" sz="2800" dirty="0">
                <a:solidFill>
                  <a:srgbClr val="0000CC"/>
                </a:solidFill>
              </a:rPr>
              <a:t>pointer(or</a:t>
            </a:r>
            <a:r>
              <a:rPr lang="zh-CN" altLang="en-US" sz="2800" dirty="0">
                <a:solidFill>
                  <a:srgbClr val="0000CC"/>
                </a:solidFill>
              </a:rPr>
              <a:t> </a:t>
            </a:r>
            <a:r>
              <a:rPr lang="en-US" altLang="zh-CN" sz="2800" dirty="0">
                <a:solidFill>
                  <a:srgbClr val="0000CC"/>
                </a:solidFill>
              </a:rPr>
              <a:t>a</a:t>
            </a:r>
            <a:r>
              <a:rPr lang="zh-CN" altLang="en-US" sz="2800" dirty="0">
                <a:solidFill>
                  <a:srgbClr val="0000CC"/>
                </a:solidFill>
              </a:rPr>
              <a:t> </a:t>
            </a:r>
            <a:r>
              <a:rPr lang="en-US" altLang="zh-CN" sz="2800" dirty="0">
                <a:solidFill>
                  <a:srgbClr val="0000CC"/>
                </a:solidFill>
              </a:rPr>
              <a:t>smart</a:t>
            </a:r>
            <a:r>
              <a:rPr lang="zh-CN" altLang="en-US" sz="2800" dirty="0">
                <a:solidFill>
                  <a:srgbClr val="0000CC"/>
                </a:solidFill>
              </a:rPr>
              <a:t> </a:t>
            </a:r>
            <a:r>
              <a:rPr lang="en-US" altLang="zh-CN" sz="2800" dirty="0">
                <a:solidFill>
                  <a:srgbClr val="0000CC"/>
                </a:solidFill>
              </a:rPr>
              <a:t>pointer) who points</a:t>
            </a:r>
            <a:r>
              <a:rPr lang="en-US" altLang="zh-CN" sz="2800" dirty="0"/>
              <a:t>  to the matrix data. </a:t>
            </a:r>
          </a:p>
          <a:p>
            <a:pPr marL="0" indent="0">
              <a:buNone/>
            </a:pPr>
            <a:r>
              <a:rPr lang="en-US" altLang="zh-CN" sz="2800" dirty="0"/>
              <a:t>The two matrices can share the same data through a copy constructor or a copy assignment.</a:t>
            </a:r>
          </a:p>
          <a:p>
            <a:pPr marL="0" indent="0">
              <a:buNone/>
            </a:pPr>
            <a:r>
              <a:rPr lang="en-US" altLang="zh-CN" sz="2800" dirty="0"/>
              <a:t>The following code can run smoothly without memory problems.</a:t>
            </a:r>
          </a:p>
          <a:p>
            <a:pPr marL="0" indent="0">
              <a:buNone/>
            </a:pPr>
            <a:endParaRPr lang="en-US" altLang="zh-CN" sz="1600" dirty="0">
              <a:latin typeface="Consolas" panose="020B0609020204030204" pitchFamily="49" charset="0"/>
            </a:endParaRPr>
          </a:p>
          <a:p>
            <a:pPr marL="685800" lvl="1" indent="0">
              <a:buNone/>
            </a:pPr>
            <a:r>
              <a:rPr lang="en-US" altLang="zh-CN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class Matrix{...};</a:t>
            </a:r>
          </a:p>
          <a:p>
            <a:pPr marL="685800" lvl="1" indent="0">
              <a:buNone/>
            </a:pPr>
            <a:r>
              <a:rPr lang="en-US" altLang="zh-CN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Matrix a(3,4);</a:t>
            </a:r>
          </a:p>
          <a:p>
            <a:pPr marL="685800" lvl="1" indent="0">
              <a:buNone/>
            </a:pPr>
            <a:r>
              <a:rPr lang="en-US" altLang="zh-CN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Matrix b(3,4);</a:t>
            </a:r>
          </a:p>
          <a:p>
            <a:pPr marL="685800" lvl="1" indent="0">
              <a:buNone/>
            </a:pPr>
            <a:r>
              <a:rPr lang="en-US" altLang="zh-CN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Matrix c = a + b;</a:t>
            </a:r>
          </a:p>
          <a:p>
            <a:pPr marL="685800" lvl="1" indent="0">
              <a:buNone/>
            </a:pPr>
            <a:r>
              <a:rPr lang="en-US" altLang="zh-CN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Matrix d = a;</a:t>
            </a:r>
          </a:p>
          <a:p>
            <a:pPr marL="685800" lvl="1" indent="0">
              <a:buNone/>
            </a:pPr>
            <a:r>
              <a:rPr lang="en-US" altLang="zh-CN" sz="20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 = b;</a:t>
            </a:r>
            <a:endParaRPr lang="en-US" altLang="zh-CN" sz="1200" dirty="0"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altLang="zh-CN" sz="1600" b="0" dirty="0">
                <a:effectLst/>
                <a:latin typeface="Consolas" panose="020B0609020204030204" pitchFamily="49" charset="0"/>
              </a:rPr>
            </a:br>
            <a:endParaRPr lang="en-US" altLang="zh-CN" sz="1600" b="0" dirty="0">
              <a:effectLst/>
              <a:latin typeface="Consolas" panose="020B0609020204030204" pitchFamily="49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8550" y="3330180"/>
            <a:ext cx="1893154" cy="3449171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304</Words>
  <Application>Microsoft Macintosh PowerPoint</Application>
  <PresentationFormat>宽屏</PresentationFormat>
  <Paragraphs>40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等线</vt:lpstr>
      <vt:lpstr>Arial</vt:lpstr>
      <vt:lpstr>Calibri</vt:lpstr>
      <vt:lpstr>Consolas</vt:lpstr>
      <vt:lpstr>Franklin Gothic Demi</vt:lpstr>
      <vt:lpstr>Franklin Gothic Medium</vt:lpstr>
      <vt:lpstr>Wingdings</vt:lpstr>
      <vt:lpstr>Office 主题</vt:lpstr>
      <vt:lpstr>Advanced Programming</vt:lpstr>
      <vt:lpstr>Exercise:</vt:lpstr>
      <vt:lpstr>Exercise:</vt:lpstr>
    </vt:vector>
  </TitlesOfParts>
  <Company>Southern University of Science and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C/C++ Program Design</dc:title>
  <dc:creator>Shiqi Yu</dc:creator>
  <cp:lastModifiedBy>Shiqi Yu</cp:lastModifiedBy>
  <cp:revision>975</cp:revision>
  <dcterms:created xsi:type="dcterms:W3CDTF">2020-09-05T08:11:00Z</dcterms:created>
  <dcterms:modified xsi:type="dcterms:W3CDTF">2026-05-09T06:12:50Z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0647E3C61451455891E3CCD081406E07_13</vt:lpwstr>
  </property>
  <property fmtid="{D5CDD505-2E9C-101B-9397-08002B2CF9AE}" pid="3" name="KSOProductBuildVer">
    <vt:lpwstr>2052-12.1.0.20784</vt:lpwstr>
  </property>
</Properties>
</file>