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1173" r:id="rId3"/>
    <p:sldId id="1139" r:id="rId4"/>
    <p:sldId id="1175" r:id="rId5"/>
    <p:sldId id="117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ydlee@163.com" initials="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878" autoAdjust="0"/>
    <p:restoredTop sz="94660"/>
  </p:normalViewPr>
  <p:slideViewPr>
    <p:cSldViewPr snapToGrid="0">
      <p:cViewPr varScale="1">
        <p:scale>
          <a:sx n="188" d="100"/>
          <a:sy n="188" d="100"/>
        </p:scale>
        <p:origin x="176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237EF7-A117-46B7-88A8-1B7FB98FF0F2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705520-EB74-4E10-9207-DDFEA7EA0F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numCol="1" anchor="t" anchorCtr="0" compatLnSpc="1"/>
          <a:lstStyle/>
          <a:p>
            <a:pPr marL="542925" indent="-542925"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478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r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5C04F1-088D-43BB-BF6A-7E5350A2ABB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numCol="1" anchor="t" anchorCtr="0" compatLnSpc="1"/>
          <a:lstStyle/>
          <a:p>
            <a:pPr marL="542925" indent="-542925"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478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r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5C04F1-088D-43BB-BF6A-7E5350A2ABB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3474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8752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24589" b="40606"/>
          <a:stretch>
            <a:fillRect/>
          </a:stretch>
        </p:blipFill>
        <p:spPr>
          <a:xfrm>
            <a:off x="8610600" y="0"/>
            <a:ext cx="3515893" cy="100793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6479" y="264221"/>
            <a:ext cx="10515600" cy="833631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4849968"/>
          </a:xfrm>
        </p:spPr>
        <p:txBody>
          <a:bodyPr/>
          <a:lstStyle>
            <a:lvl2pPr marL="914400" indent="-457200">
              <a:buFont typeface="Wingdings" panose="05000000000000000000" pitchFamily="2" charset="2"/>
              <a:buChar char="Ø"/>
              <a:defRPr/>
            </a:lvl2pPr>
            <a:lvl3pPr marL="1143000" indent="-228600"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4634" y="365125"/>
            <a:ext cx="922916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0320" y="365125"/>
            <a:ext cx="9245067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298448" y="365125"/>
            <a:ext cx="10055352" cy="815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389888"/>
            <a:ext cx="10515600" cy="478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517904" y="6356350"/>
            <a:ext cx="20634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9A4FA-3D9A-4114-B0D5-759CBD56F1A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52950"/>
            <a:ext cx="1152144" cy="4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□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07592"/>
            <a:ext cx="9144000" cy="1772603"/>
          </a:xfrm>
        </p:spPr>
        <p:txBody>
          <a:bodyPr>
            <a:noAutofit/>
          </a:bodyPr>
          <a:lstStyle/>
          <a:p>
            <a:r>
              <a:rPr lang="en-US" altLang="zh-CN" b="1" dirty="0">
                <a:latin typeface="Franklin Gothic Demi" panose="020B0703020102020204" pitchFamily="34" charset="0"/>
                <a:sym typeface="+mn-ea"/>
              </a:rPr>
              <a:t>Advanced</a:t>
            </a:r>
            <a:r>
              <a:rPr lang="zh-CN" altLang="en-US" b="1" dirty="0">
                <a:latin typeface="Franklin Gothic Demi" panose="020B0703020102020204" pitchFamily="34" charset="0"/>
                <a:sym typeface="+mn-ea"/>
              </a:rPr>
              <a:t> </a:t>
            </a:r>
            <a:r>
              <a:rPr lang="en-US" altLang="zh-CN" b="1" dirty="0">
                <a:latin typeface="Franklin Gothic Demi" panose="020B0703020102020204" pitchFamily="34" charset="0"/>
                <a:sym typeface="+mn-ea"/>
              </a:rPr>
              <a:t>Programming</a:t>
            </a:r>
            <a:endParaRPr lang="zh-CN" altLang="en-US" b="1" dirty="0">
              <a:latin typeface="Franklin Gothic Demi" panose="020B070302010202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19199" y="3233141"/>
            <a:ext cx="10040471" cy="2767054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Franklin Gothic Medium" panose="020B0603020102020204" pitchFamily="34" charset="0"/>
                <a:sym typeface="+mn-ea"/>
              </a:rPr>
              <a:t>Lab 14, Exceptions, assertion</a:t>
            </a:r>
            <a:endParaRPr lang="en-US" altLang="zh-CN" sz="3600" dirty="0">
              <a:latin typeface="Franklin Gothic Medium" panose="020B0603020102020204" pitchFamily="34" charset="0"/>
            </a:endParaRPr>
          </a:p>
          <a:p>
            <a:endParaRPr lang="en-US" altLang="zh-CN" sz="3600" dirty="0">
              <a:latin typeface="Franklin Gothic Medium" panose="020B0603020102020204" pitchFamily="34" charset="0"/>
            </a:endParaRPr>
          </a:p>
          <a:p>
            <a:endParaRPr lang="en-US" altLang="zh-CN" dirty="0">
              <a:latin typeface="Franklin Gothic Medium" panose="020B0603020102020204" pitchFamily="34" charset="0"/>
            </a:endParaRPr>
          </a:p>
          <a:p>
            <a:r>
              <a:rPr lang="zh-CN" altLang="en-US" dirty="0">
                <a:latin typeface="Franklin Gothic Medium" panose="020B0603020102020204" pitchFamily="34" charset="0"/>
                <a:sym typeface="+mn-ea"/>
              </a:rPr>
              <a:t>廖琪梅，王大兴，于仕琪，王薇</a:t>
            </a:r>
            <a:endParaRPr lang="en-US" altLang="zh-CN" dirty="0">
              <a:latin typeface="Franklin Gothic Medium" panose="020B0603020102020204" pitchFamily="34" charset="0"/>
            </a:endParaRPr>
          </a:p>
          <a:p>
            <a:endParaRPr lang="en-US" altLang="zh-CN" dirty="0">
              <a:latin typeface="Franklin Gothic Medium" panose="020B06030201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"/>
          <p:cNvSpPr txBox="1"/>
          <p:nvPr/>
        </p:nvSpPr>
        <p:spPr>
          <a:xfrm>
            <a:off x="1513335" y="511197"/>
            <a:ext cx="9054497" cy="440370"/>
          </a:xfrm>
          <a:prstGeom prst="rect">
            <a:avLst/>
          </a:prstGeom>
        </p:spPr>
        <p:txBody>
          <a:bodyPr lIns="107710" tIns="53855" rIns="107710" bIns="53855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8905" lvl="1" indent="0">
              <a:spcBef>
                <a:spcPts val="1415"/>
              </a:spcBef>
              <a:buSzPct val="68000"/>
              <a:buNone/>
            </a:pPr>
            <a:r>
              <a:rPr lang="en-US" sz="2180" dirty="0">
                <a:solidFill>
                  <a:prstClr val="black"/>
                </a:solidFill>
              </a:rPr>
              <a:t>C++ provides a list of standard exceptions defined in which we can use in our programs. </a:t>
            </a:r>
          </a:p>
          <a:p>
            <a:pPr marL="128905" lvl="1" indent="0">
              <a:spcBef>
                <a:spcPts val="1415"/>
              </a:spcBef>
              <a:buSzPct val="68000"/>
              <a:buNone/>
            </a:pPr>
            <a:r>
              <a:rPr lang="en-US" sz="2180" dirty="0">
                <a:solidFill>
                  <a:prstClr val="black"/>
                </a:solidFill>
              </a:rPr>
              <a:t>  </a:t>
            </a:r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9625" y="962723"/>
            <a:ext cx="5293389" cy="5372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" name="Title 1"/>
          <p:cNvSpPr txBox="1"/>
          <p:nvPr/>
        </p:nvSpPr>
        <p:spPr>
          <a:xfrm>
            <a:off x="1408617" y="55126"/>
            <a:ext cx="3954094" cy="522209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1186815" rtl="0" eaLnBrk="1" latinLnBrk="0" hangingPunct="1">
              <a:spcBef>
                <a:spcPct val="0"/>
              </a:spcBef>
              <a:buNone/>
              <a:defRPr sz="5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540" b="1" dirty="0"/>
              <a:t>C++ Standard Exceptions</a:t>
            </a: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42" y="1389019"/>
            <a:ext cx="6517982" cy="4218534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739" y="3137695"/>
            <a:ext cx="9630557" cy="2062915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3849352" y="2941640"/>
            <a:ext cx="7972920" cy="977042"/>
            <a:chOff x="413693" y="1706563"/>
            <a:chExt cx="8784977" cy="1076555"/>
          </a:xfrm>
        </p:grpSpPr>
        <p:sp>
          <p:nvSpPr>
            <p:cNvPr id="5" name="矩形 4"/>
            <p:cNvSpPr/>
            <p:nvPr/>
          </p:nvSpPr>
          <p:spPr>
            <a:xfrm>
              <a:off x="413693" y="2498651"/>
              <a:ext cx="1152129" cy="28446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35"/>
            </a:p>
          </p:txBody>
        </p:sp>
        <p:sp>
          <p:nvSpPr>
            <p:cNvPr id="6" name="圆角矩形标注 3"/>
            <p:cNvSpPr/>
            <p:nvPr/>
          </p:nvSpPr>
          <p:spPr>
            <a:xfrm>
              <a:off x="1349798" y="1706563"/>
              <a:ext cx="7848872" cy="619096"/>
            </a:xfrm>
            <a:prstGeom prst="wedgeRoundRectCallout">
              <a:avLst>
                <a:gd name="adj1" fmla="val -49548"/>
                <a:gd name="adj2" fmla="val 90103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815" dirty="0"/>
                <a:t>Exception specification used in function declaration, with no argument indicates that the function is not allowed to throw any exceptions. </a:t>
              </a:r>
              <a:endParaRPr lang="zh-CN" altLang="en-US" sz="1815" dirty="0"/>
            </a:p>
          </p:txBody>
        </p:sp>
      </p:grpSp>
      <p:sp>
        <p:nvSpPr>
          <p:cNvPr id="7" name="Content Placeholder 2"/>
          <p:cNvSpPr txBox="1"/>
          <p:nvPr/>
        </p:nvSpPr>
        <p:spPr>
          <a:xfrm>
            <a:off x="908521" y="5490360"/>
            <a:ext cx="10717695" cy="1559610"/>
          </a:xfrm>
          <a:prstGeom prst="rect">
            <a:avLst/>
          </a:prstGeom>
        </p:spPr>
        <p:txBody>
          <a:bodyPr lIns="107710" tIns="53855" rIns="107710" bIns="53855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8905" lvl="1" indent="0" defTabSz="829945">
              <a:spcBef>
                <a:spcPts val="1415"/>
              </a:spcBef>
              <a:buSzPct val="68000"/>
              <a:buNone/>
              <a:defRPr/>
            </a:pPr>
            <a:r>
              <a:rPr lang="en-US" sz="218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2180" b="1" dirty="0">
                <a:solidFill>
                  <a:prstClr val="black"/>
                </a:solidFill>
                <a:latin typeface="Calibri" panose="020F0502020204030204"/>
              </a:rPr>
              <a:t>what() </a:t>
            </a:r>
            <a:r>
              <a:rPr lang="en-US" sz="2180" dirty="0">
                <a:solidFill>
                  <a:prstClr val="black"/>
                </a:solidFill>
                <a:latin typeface="Calibri" panose="020F0502020204030204"/>
              </a:rPr>
              <a:t>is a public method provided by </a:t>
            </a:r>
            <a:r>
              <a:rPr lang="en-US" sz="2180" b="1" dirty="0">
                <a:solidFill>
                  <a:prstClr val="black"/>
                </a:solidFill>
                <a:latin typeface="Calibri" panose="020F0502020204030204"/>
              </a:rPr>
              <a:t>exception class </a:t>
            </a:r>
            <a:r>
              <a:rPr lang="en-US" sz="2180" dirty="0">
                <a:solidFill>
                  <a:prstClr val="black"/>
                </a:solidFill>
                <a:latin typeface="Calibri" panose="020F0502020204030204"/>
              </a:rPr>
              <a:t>which returns a string and it has been overridden by all the child exception classes. </a:t>
            </a:r>
            <a:endParaRPr lang="zh-CN" altLang="zh-CN" sz="2180" b="1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455" y="592065"/>
            <a:ext cx="5607327" cy="2037546"/>
          </a:xfrm>
          <a:prstGeom prst="rect">
            <a:avLst/>
          </a:prstGeom>
        </p:spPr>
      </p:pic>
      <p:sp>
        <p:nvSpPr>
          <p:cNvPr id="8" name="Content Placeholder 2"/>
          <p:cNvSpPr txBox="1"/>
          <p:nvPr/>
        </p:nvSpPr>
        <p:spPr>
          <a:xfrm>
            <a:off x="908521" y="1183989"/>
            <a:ext cx="3471322" cy="1343556"/>
          </a:xfrm>
          <a:prstGeom prst="rect">
            <a:avLst/>
          </a:prstGeom>
        </p:spPr>
        <p:txBody>
          <a:bodyPr lIns="107710" tIns="53855" rIns="107710" bIns="53855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8905" lvl="1" indent="0" defTabSz="829945">
              <a:spcBef>
                <a:spcPts val="1415"/>
              </a:spcBef>
              <a:buSzPct val="68000"/>
              <a:buNone/>
              <a:defRPr/>
            </a:pPr>
            <a:r>
              <a:rPr lang="en-US" sz="218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2180" b="1" dirty="0" err="1">
                <a:solidFill>
                  <a:prstClr val="black"/>
                </a:solidFill>
                <a:latin typeface="Calibri" panose="020F0502020204030204"/>
              </a:rPr>
              <a:t>noexcept</a:t>
            </a:r>
            <a:r>
              <a:rPr lang="en-US" sz="2180" b="1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en-US" sz="2180" b="1" dirty="0" err="1">
                <a:solidFill>
                  <a:prstClr val="black"/>
                </a:solidFill>
                <a:latin typeface="Calibri" panose="020F0502020204030204"/>
              </a:rPr>
              <a:t>noexcept</a:t>
            </a:r>
            <a:r>
              <a:rPr lang="en-US" sz="2180" b="1" dirty="0">
                <a:solidFill>
                  <a:prstClr val="black"/>
                </a:solidFill>
                <a:latin typeface="Calibri" panose="020F0502020204030204"/>
              </a:rPr>
              <a:t>(true), </a:t>
            </a:r>
            <a:r>
              <a:rPr lang="en-US" sz="2180" dirty="0">
                <a:solidFill>
                  <a:prstClr val="black"/>
                </a:solidFill>
                <a:latin typeface="Calibri" panose="020F0502020204030204"/>
              </a:rPr>
              <a:t>and</a:t>
            </a:r>
            <a:r>
              <a:rPr lang="en-US" sz="2180" b="1" dirty="0">
                <a:solidFill>
                  <a:prstClr val="black"/>
                </a:solidFill>
                <a:latin typeface="Calibri" panose="020F0502020204030204"/>
              </a:rPr>
              <a:t> throw() </a:t>
            </a:r>
            <a:r>
              <a:rPr lang="en-US" sz="2180" dirty="0">
                <a:solidFill>
                  <a:prstClr val="black"/>
                </a:solidFill>
                <a:latin typeface="Calibri" panose="020F0502020204030204"/>
              </a:rPr>
              <a:t>are equivalent.</a:t>
            </a:r>
            <a:endParaRPr lang="zh-CN" altLang="zh-CN" sz="218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5565" y="1156970"/>
            <a:ext cx="10028555" cy="2416810"/>
          </a:xfrm>
        </p:spPr>
        <p:txBody>
          <a:bodyPr>
            <a:noAutofit/>
          </a:bodyPr>
          <a:lstStyle/>
          <a:p>
            <a:pPr marL="127000" lvl="1" indent="0">
              <a:spcBef>
                <a:spcPts val="1390"/>
              </a:spcBef>
              <a:buSzPct val="68000"/>
              <a:buNone/>
            </a:pPr>
            <a:r>
              <a:rPr lang="en-US" sz="2000" dirty="0"/>
              <a:t>1. Write a function </a:t>
            </a:r>
            <a:r>
              <a:rPr lang="en-US" sz="2000" b="1" dirty="0" err="1"/>
              <a:t>calculateAverage</a:t>
            </a:r>
            <a:r>
              <a:rPr lang="en-US" sz="2000" b="1" dirty="0"/>
              <a:t>()</a:t>
            </a:r>
            <a:r>
              <a:rPr lang="en-US" sz="2000" dirty="0"/>
              <a:t> which takes four int arguments, which are marks of four courses, and returns their average as a float number.</a:t>
            </a:r>
          </a:p>
          <a:p>
            <a:pPr marL="127000" lvl="1" indent="0">
              <a:spcBef>
                <a:spcPts val="1390"/>
              </a:spcBef>
              <a:buSzPct val="68000"/>
              <a:buNone/>
            </a:pPr>
            <a:r>
              <a:rPr lang="en-US" sz="2000" dirty="0"/>
              <a:t>The </a:t>
            </a:r>
            <a:r>
              <a:rPr lang="en-US" sz="2000" b="1" dirty="0" err="1"/>
              <a:t>calculateAverage</a:t>
            </a:r>
            <a:r>
              <a:rPr lang="en-US" sz="2000" b="1" dirty="0"/>
              <a:t>() </a:t>
            </a:r>
            <a:r>
              <a:rPr lang="en-US" sz="2000" dirty="0"/>
              <a:t>function should take only valid range for marks which is between 0-100. If the marks are out of range throw an </a:t>
            </a:r>
            <a:r>
              <a:rPr lang="en-US" sz="2000" b="1" dirty="0" err="1"/>
              <a:t>OutOfRangeException</a:t>
            </a:r>
            <a:r>
              <a:rPr lang="en-US" sz="2000" dirty="0"/>
              <a:t> – define this exception as a class.</a:t>
            </a:r>
          </a:p>
          <a:p>
            <a:pPr marL="127000" lvl="1" indent="0">
              <a:spcBef>
                <a:spcPts val="1390"/>
              </a:spcBef>
              <a:buSzPct val="68000"/>
              <a:buNone/>
            </a:pPr>
            <a:r>
              <a:rPr lang="en-US" sz="2000" dirty="0"/>
              <a:t>Invoke the </a:t>
            </a:r>
            <a:r>
              <a:rPr lang="en-US" sz="2000" b="1" dirty="0" err="1"/>
              <a:t>calculateAverage</a:t>
            </a:r>
            <a:r>
              <a:rPr lang="en-US" sz="2000" b="1" dirty="0"/>
              <a:t>() </a:t>
            </a:r>
            <a:r>
              <a:rPr lang="en-US" sz="2000" dirty="0"/>
              <a:t>function in main function and get the following inputs and outputs:</a:t>
            </a:r>
          </a:p>
          <a:p>
            <a:pPr marL="127000" lvl="1" indent="0">
              <a:spcBef>
                <a:spcPts val="1390"/>
              </a:spcBef>
              <a:buSzPct val="68000"/>
              <a:buNone/>
            </a:pPr>
            <a:endParaRPr lang="en-US" sz="20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419" y="3652735"/>
            <a:ext cx="7527978" cy="2635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761615" y="4392295"/>
            <a:ext cx="6597650" cy="51244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5">
              <a:solidFill>
                <a:prstClr val="white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2771775" y="5167630"/>
            <a:ext cx="6597650" cy="51244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5">
              <a:solidFill>
                <a:prstClr val="white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498600" y="322580"/>
            <a:ext cx="7504430" cy="511810"/>
          </a:xfrm>
        </p:spPr>
        <p:txBody>
          <a:bodyPr>
            <a:noAutofit/>
          </a:bodyPr>
          <a:lstStyle/>
          <a:p>
            <a:r>
              <a:rPr lang="en-US" altLang="zh-CN" sz="4640" dirty="0"/>
              <a:t>Exercise: </a:t>
            </a:r>
            <a:endParaRPr lang="zh-CN" altLang="en-US" sz="4640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4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210310" y="314325"/>
            <a:ext cx="10819765" cy="8439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lvl="1" indent="0">
              <a:spcBef>
                <a:spcPts val="1390"/>
              </a:spcBef>
              <a:buSzPct val="68000"/>
              <a:buNone/>
            </a:pPr>
            <a:r>
              <a:rPr lang="en-US" sz="2000" dirty="0"/>
              <a:t>2. </a:t>
            </a:r>
            <a:r>
              <a:rPr lang="en-US" altLang="zh-CN" sz="2000" dirty="0"/>
              <a:t>Define a generic class “GoldenRectangle” for a golden rectangle in the “golden_rectangle. h” , When testing based on the following main methods, the test results are shown in the bottom figure.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917950" y="1330325"/>
            <a:ext cx="8178800" cy="360680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#include </a:t>
            </a:r>
            <a:r>
              <a:rPr lang="en-US" altLang="zh-CN" sz="1200" b="0">
                <a:solidFill>
                  <a:srgbClr val="CE9178"/>
                </a:solidFill>
                <a:latin typeface="Consolas" panose="020B0609020204030204"/>
                <a:ea typeface="Consolas" panose="020B0609020204030204"/>
              </a:rPr>
              <a:t>"golden_rectangle.h"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int </a:t>
            </a:r>
            <a:r>
              <a:rPr lang="en-US" altLang="zh-CN" sz="1200" b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main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() {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    </a:t>
            </a:r>
            <a:r>
              <a:rPr lang="en-US" altLang="zh-CN" sz="1200">
                <a:solidFill>
                  <a:srgbClr val="CCCCCC"/>
                </a:solidFill>
                <a:latin typeface="Consolas" panose="020B0609020204030204"/>
                <a:ea typeface="Consolas" panose="020B0609020204030204"/>
                <a:sym typeface="+mn-ea"/>
              </a:rPr>
              <a:t>GoldenRectangle</a:t>
            </a:r>
            <a:r>
              <a:rPr lang="en-US" altLang="zh-CN" sz="1200">
                <a:solidFill>
                  <a:srgbClr val="D4D4D4"/>
                </a:solidFill>
                <a:latin typeface="Consolas" panose="020B0609020204030204"/>
                <a:ea typeface="Consolas" panose="020B0609020204030204"/>
                <a:sym typeface="+mn-ea"/>
              </a:rPr>
              <a:t>&lt;</a:t>
            </a:r>
            <a:r>
              <a:rPr lang="en-US" altLang="zh-CN" sz="1200">
                <a:solidFill>
                  <a:srgbClr val="569CD6"/>
                </a:solidFill>
                <a:latin typeface="Consolas" panose="020B0609020204030204"/>
                <a:ea typeface="Consolas" panose="020B0609020204030204"/>
                <a:sym typeface="+mn-ea"/>
              </a:rPr>
              <a:t>int</a:t>
            </a:r>
            <a:r>
              <a:rPr lang="en-US" altLang="zh-CN" sz="1200">
                <a:solidFill>
                  <a:srgbClr val="D4D4D4"/>
                </a:solidFill>
                <a:latin typeface="Consolas" panose="020B0609020204030204"/>
                <a:ea typeface="Consolas" panose="020B0609020204030204"/>
                <a:sym typeface="+mn-ea"/>
              </a:rPr>
              <a:t>&gt;</a:t>
            </a:r>
            <a:r>
              <a:rPr lang="en-US" altLang="zh-CN" sz="1200">
                <a:solidFill>
                  <a:srgbClr val="DCDCAA"/>
                </a:solidFill>
                <a:latin typeface="Consolas" panose="020B0609020204030204"/>
                <a:ea typeface="Consolas" panose="020B0609020204030204"/>
                <a:sym typeface="+mn-ea"/>
              </a:rPr>
              <a:t>rect0</a:t>
            </a:r>
            <a:r>
              <a:rPr lang="en-US" altLang="zh-CN" sz="1200">
                <a:solidFill>
                  <a:srgbClr val="CCCCCC"/>
                </a:solidFill>
                <a:latin typeface="Consolas" panose="020B0609020204030204"/>
                <a:ea typeface="Consolas" panose="020B0609020204030204"/>
                <a:sym typeface="+mn-ea"/>
              </a:rPr>
              <a:t>(1618, 10);</a:t>
            </a:r>
            <a:endParaRPr lang="en-US" altLang="zh-CN" sz="1200" b="0">
              <a:solidFill>
                <a:srgbClr val="CCCCCC"/>
              </a:solidFill>
              <a:latin typeface="Consolas" panose="020B0609020204030204"/>
              <a:ea typeface="Consolas" panose="020B0609020204030204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200">
                <a:solidFill>
                  <a:srgbClr val="CCCCCC"/>
                </a:solidFill>
                <a:latin typeface="Consolas" panose="020B0609020204030204"/>
                <a:ea typeface="Consolas" panose="020B0609020204030204"/>
                <a:sym typeface="+mn-ea"/>
              </a:rPr>
              <a:t>    </a:t>
            </a:r>
            <a:r>
              <a:rPr lang="en-US" altLang="zh-CN" sz="1200">
                <a:solidFill>
                  <a:srgbClr val="4EC9B0"/>
                </a:solidFill>
                <a:latin typeface="Consolas" panose="020B0609020204030204"/>
                <a:ea typeface="Consolas" panose="020B0609020204030204"/>
                <a:sym typeface="+mn-ea"/>
              </a:rPr>
              <a:t>std</a:t>
            </a:r>
            <a:r>
              <a:rPr lang="en-US" altLang="zh-CN" sz="1200">
                <a:solidFill>
                  <a:srgbClr val="CCCCCC"/>
                </a:solidFill>
                <a:latin typeface="Consolas" panose="020B0609020204030204"/>
                <a:ea typeface="Consolas" panose="020B0609020204030204"/>
                <a:sym typeface="+mn-ea"/>
              </a:rPr>
              <a:t>::cout </a:t>
            </a:r>
            <a:r>
              <a:rPr lang="en-US" altLang="zh-CN" sz="1200">
                <a:solidFill>
                  <a:srgbClr val="D4D4D4"/>
                </a:solidFill>
                <a:latin typeface="Consolas" panose="020B0609020204030204"/>
                <a:ea typeface="Consolas" panose="020B0609020204030204"/>
                <a:sym typeface="+mn-ea"/>
              </a:rPr>
              <a:t>&lt;&lt;</a:t>
            </a:r>
            <a:r>
              <a:rPr lang="en-US" altLang="zh-CN" sz="1200">
                <a:solidFill>
                  <a:srgbClr val="CE9178"/>
                </a:solidFill>
                <a:latin typeface="Consolas" panose="020B0609020204030204"/>
                <a:ea typeface="Consolas" panose="020B0609020204030204"/>
                <a:sym typeface="+mn-ea"/>
              </a:rPr>
              <a:t>"1618x10 is golder Rectangle: "</a:t>
            </a:r>
            <a:r>
              <a:rPr lang="en-US" altLang="zh-CN" sz="1200">
                <a:solidFill>
                  <a:srgbClr val="D4D4D4"/>
                </a:solidFill>
                <a:latin typeface="Consolas" panose="020B0609020204030204"/>
                <a:ea typeface="Consolas" panose="020B0609020204030204"/>
                <a:sym typeface="+mn-ea"/>
              </a:rPr>
              <a:t>&lt;&lt;</a:t>
            </a:r>
            <a:r>
              <a:rPr lang="en-US" altLang="zh-CN" sz="1200">
                <a:solidFill>
                  <a:srgbClr val="4EC9B0"/>
                </a:solidFill>
                <a:latin typeface="Consolas" panose="020B0609020204030204"/>
                <a:ea typeface="Consolas" panose="020B0609020204030204"/>
                <a:sym typeface="+mn-ea"/>
              </a:rPr>
              <a:t>std</a:t>
            </a:r>
            <a:r>
              <a:rPr lang="en-US" altLang="zh-CN" sz="1200">
                <a:solidFill>
                  <a:srgbClr val="CCCCCC"/>
                </a:solidFill>
                <a:latin typeface="Consolas" panose="020B0609020204030204"/>
                <a:ea typeface="Consolas" panose="020B0609020204030204"/>
                <a:sym typeface="+mn-ea"/>
              </a:rPr>
              <a:t>::boolalpha </a:t>
            </a:r>
            <a:r>
              <a:rPr lang="en-US" altLang="zh-CN" sz="1200">
                <a:solidFill>
                  <a:srgbClr val="D4D4D4"/>
                </a:solidFill>
                <a:latin typeface="Consolas" panose="020B0609020204030204"/>
                <a:ea typeface="Consolas" panose="020B0609020204030204"/>
                <a:sym typeface="+mn-ea"/>
              </a:rPr>
              <a:t>&lt;&lt;</a:t>
            </a:r>
            <a:r>
              <a:rPr lang="en-US" altLang="zh-CN" sz="1200">
                <a:solidFill>
                  <a:srgbClr val="9CDCFE"/>
                </a:solidFill>
                <a:latin typeface="Consolas" panose="020B0609020204030204"/>
                <a:ea typeface="Consolas" panose="020B0609020204030204"/>
                <a:sym typeface="+mn-ea"/>
              </a:rPr>
              <a:t>rect0</a:t>
            </a:r>
            <a:r>
              <a:rPr lang="en-US" altLang="zh-CN" sz="1200">
                <a:solidFill>
                  <a:srgbClr val="CCCCCC"/>
                </a:solidFill>
                <a:latin typeface="Consolas" panose="020B0609020204030204"/>
                <a:ea typeface="Consolas" panose="020B0609020204030204"/>
                <a:sym typeface="+mn-ea"/>
              </a:rPr>
              <a:t>.</a:t>
            </a:r>
            <a:r>
              <a:rPr lang="en-US" altLang="zh-CN" sz="1200">
                <a:solidFill>
                  <a:srgbClr val="DCDCAA"/>
                </a:solidFill>
                <a:latin typeface="Consolas" panose="020B0609020204030204"/>
                <a:ea typeface="Consolas" panose="020B0609020204030204"/>
                <a:sym typeface="+mn-ea"/>
              </a:rPr>
              <a:t>isGolden</a:t>
            </a:r>
            <a:r>
              <a:rPr lang="en-US" altLang="zh-CN" sz="1200">
                <a:solidFill>
                  <a:srgbClr val="CCCCCC"/>
                </a:solidFill>
                <a:latin typeface="Consolas" panose="020B0609020204030204"/>
                <a:ea typeface="Consolas" panose="020B0609020204030204"/>
                <a:sym typeface="+mn-ea"/>
              </a:rPr>
              <a:t>() </a:t>
            </a:r>
            <a:r>
              <a:rPr lang="en-US" altLang="zh-CN" sz="1200">
                <a:solidFill>
                  <a:srgbClr val="D4D4D4"/>
                </a:solidFill>
                <a:latin typeface="Consolas" panose="020B0609020204030204"/>
                <a:ea typeface="Consolas" panose="020B0609020204030204"/>
                <a:sym typeface="+mn-ea"/>
              </a:rPr>
              <a:t>&lt;&lt;</a:t>
            </a:r>
            <a:r>
              <a:rPr lang="en-US" altLang="zh-CN" sz="1200">
                <a:solidFill>
                  <a:srgbClr val="4EC9B0"/>
                </a:solidFill>
                <a:latin typeface="Consolas" panose="020B0609020204030204"/>
                <a:ea typeface="Consolas" panose="020B0609020204030204"/>
                <a:sym typeface="+mn-ea"/>
              </a:rPr>
              <a:t>std</a:t>
            </a:r>
            <a:r>
              <a:rPr lang="en-US" altLang="zh-CN" sz="1200">
                <a:solidFill>
                  <a:srgbClr val="CCCCCC"/>
                </a:solidFill>
                <a:latin typeface="Consolas" panose="020B0609020204030204"/>
                <a:ea typeface="Consolas" panose="020B0609020204030204"/>
                <a:sym typeface="+mn-ea"/>
              </a:rPr>
              <a:t>::endl;</a:t>
            </a:r>
            <a:endParaRPr lang="en-US" altLang="zh-CN" sz="1200" b="0">
              <a:solidFill>
                <a:srgbClr val="CCCCCC"/>
              </a:solidFill>
              <a:latin typeface="Consolas" panose="020B0609020204030204"/>
              <a:ea typeface="Consolas" panose="020B0609020204030204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    GoldenRectangle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&lt;</a:t>
            </a:r>
            <a:r>
              <a:rPr lang="en-US" altLang="zh-CN" sz="1200" b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&gt;</a:t>
            </a:r>
            <a:r>
              <a:rPr lang="en-US" altLang="zh-CN" sz="1200" b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rect1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200" b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34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lang="en-US" altLang="zh-CN" sz="1200" b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21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);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std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::cout 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>
                <a:solidFill>
                  <a:srgbClr val="CE9178"/>
                </a:solidFill>
                <a:latin typeface="Consolas" panose="020B0609020204030204"/>
                <a:ea typeface="Consolas" panose="020B0609020204030204"/>
              </a:rPr>
              <a:t>"34x21 is golder Rectangle: "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std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::boolalpha 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rect1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sz="1200" b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isGolden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() 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std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::endl;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    </a:t>
            </a:r>
            <a:endParaRPr lang="zh-CN" altLang="en-US" sz="120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GoldenRectangle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&lt;</a:t>
            </a:r>
            <a:r>
              <a:rPr lang="en-US" altLang="zh-CN" sz="1200" b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double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&gt;</a:t>
            </a:r>
            <a:r>
              <a:rPr lang="en-US" altLang="zh-CN" sz="1200" b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rect2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200" b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1.0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lang="en-US" altLang="zh-CN" sz="1200" b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1.618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);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std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::cout 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>
                <a:solidFill>
                  <a:srgbClr val="CE9178"/>
                </a:solidFill>
                <a:latin typeface="Consolas" panose="020B0609020204030204"/>
                <a:ea typeface="Consolas" panose="020B0609020204030204"/>
              </a:rPr>
              <a:t>"1.0x1.618 is golder Rectangle: "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rect2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sz="1200" b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isGolden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() 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std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::endl;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    </a:t>
            </a:r>
            <a:endParaRPr lang="zh-CN" altLang="en-US" sz="120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GoldenRectangle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&lt;</a:t>
            </a:r>
            <a:r>
              <a:rPr lang="en-US" altLang="zh-CN" sz="1200" b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float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&gt;</a:t>
            </a:r>
            <a:r>
              <a:rPr lang="en-US" altLang="zh-CN" sz="1200" b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rect3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200" b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10.0f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lang="en-US" altLang="zh-CN" sz="1200" b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6.0f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);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std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::cout 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>
                <a:solidFill>
                  <a:srgbClr val="CE9178"/>
                </a:solidFill>
                <a:latin typeface="Consolas" panose="020B0609020204030204"/>
                <a:ea typeface="Consolas" panose="020B0609020204030204"/>
              </a:rPr>
              <a:t>"10.0x6.0 is golder Rectangle: "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rect3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sz="1200" b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isGolden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() 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std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::endl;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    </a:t>
            </a:r>
            <a:endParaRPr lang="zh-CN" altLang="en-US" sz="120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GoldenRectangle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&lt;</a:t>
            </a:r>
            <a:r>
              <a:rPr lang="en-US" altLang="zh-CN" sz="1200" b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&gt;</a:t>
            </a:r>
            <a:r>
              <a:rPr lang="en-US" altLang="zh-CN" sz="1200" b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rect4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200" b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10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lang="en-US" altLang="zh-CN" sz="1200" b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);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    </a:t>
            </a:r>
            <a:endParaRPr lang="zh-CN" altLang="en-US" sz="1200" b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std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::cout 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>
                <a:solidFill>
                  <a:srgbClr val="CE9178"/>
                </a:solidFill>
                <a:latin typeface="Consolas" panose="020B0609020204030204"/>
                <a:ea typeface="Consolas" panose="020B0609020204030204"/>
              </a:rPr>
              <a:t>"10x0 is golder Rectangle: "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rect4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sz="1200" b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isGolden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() </a:t>
            </a:r>
            <a:r>
              <a:rPr lang="en-US" altLang="zh-CN" sz="12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200" b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std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::endl;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200" b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return </a:t>
            </a:r>
            <a:r>
              <a:rPr lang="en-US" altLang="zh-CN" sz="1200" b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200" b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}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" y="5137150"/>
            <a:ext cx="10363200" cy="11906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54940" y="1295400"/>
            <a:ext cx="3504565" cy="37630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1"/>
            <a:r>
              <a:rPr lang="en-US" altLang="zh-CN" sz="1400" b="1" dirty="0">
                <a:sym typeface="+mn-ea"/>
              </a:rPr>
              <a:t>GoldenRectangle </a:t>
            </a:r>
            <a:r>
              <a:rPr lang="en-US" altLang="zh-CN" sz="1400" dirty="0">
                <a:sym typeface="+mn-ea"/>
              </a:rPr>
              <a:t>class:</a:t>
            </a:r>
          </a:p>
          <a:p>
            <a:pPr marL="285750" lvl="1" indent="-285750">
              <a:buFont typeface="Wingdings" panose="05000000000000000000" charset="0"/>
              <a:buChar char="ü"/>
            </a:pPr>
            <a:r>
              <a:rPr lang="en-US" altLang="zh-CN" sz="1400" dirty="0">
                <a:sym typeface="+mn-ea"/>
              </a:rPr>
              <a:t>two private properties: length and width, and a generic data type. </a:t>
            </a:r>
          </a:p>
          <a:p>
            <a:pPr marL="285750" lvl="1" indent="-285750">
              <a:buFont typeface="Wingdings" panose="05000000000000000000" charset="0"/>
              <a:buChar char="ü"/>
            </a:pPr>
            <a:endParaRPr lang="en-US" altLang="zh-CN" sz="1400" dirty="0">
              <a:sym typeface="+mn-ea"/>
            </a:endParaRPr>
          </a:p>
          <a:p>
            <a:pPr marL="285750" lvl="1" indent="-285750">
              <a:buFont typeface="Wingdings" panose="05000000000000000000" charset="0"/>
              <a:buChar char="ü"/>
            </a:pPr>
            <a:r>
              <a:rPr lang="en-US" altLang="zh-CN" sz="1400" dirty="0">
                <a:sym typeface="+mn-ea"/>
              </a:rPr>
              <a:t>a public method, which returns a Boolean value. </a:t>
            </a:r>
          </a:p>
          <a:p>
            <a:pPr marL="742950" lvl="2" indent="-285750">
              <a:buFont typeface="Wingdings" panose="05000000000000000000" charset="0"/>
              <a:buChar char="ü"/>
            </a:pPr>
            <a:r>
              <a:rPr lang="en-US" altLang="zh-CN" sz="1400" dirty="0">
                <a:sym typeface="+mn-ea"/>
              </a:rPr>
              <a:t>The method calculates by dividing the long side by the short side. If the quotient is 1.618, it returns true; otherwise, it returns false. </a:t>
            </a:r>
          </a:p>
          <a:p>
            <a:pPr marL="742950" lvl="2" indent="-285750">
              <a:buFont typeface="Wingdings" panose="05000000000000000000" charset="0"/>
              <a:buChar char="ü"/>
            </a:pPr>
            <a:endParaRPr lang="en-US" altLang="zh-CN" sz="1400" dirty="0">
              <a:sym typeface="+mn-ea"/>
            </a:endParaRPr>
          </a:p>
          <a:p>
            <a:pPr marL="742950" lvl="2" indent="-285750">
              <a:buFont typeface="Wingdings" panose="05000000000000000000" charset="0"/>
              <a:buChar char="ü"/>
            </a:pPr>
            <a:r>
              <a:rPr lang="en-US" altLang="zh-CN" sz="1400" dirty="0">
                <a:sym typeface="+mn-ea"/>
              </a:rPr>
              <a:t>In this method, If the shorter side is 0 (i.e. the divisor is 0), an assertion is triggered.</a:t>
            </a:r>
            <a:endParaRPr lang="en-US" altLang="zh-CN" sz="1400" dirty="0"/>
          </a:p>
          <a:p>
            <a:endParaRPr lang="zh-CN" alt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493</Words>
  <Application>Microsoft Macintosh PowerPoint</Application>
  <PresentationFormat>宽屏</PresentationFormat>
  <Paragraphs>49</Paragraphs>
  <Slides>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等线</vt:lpstr>
      <vt:lpstr>Arial</vt:lpstr>
      <vt:lpstr>Calibri</vt:lpstr>
      <vt:lpstr>Consolas</vt:lpstr>
      <vt:lpstr>Franklin Gothic Demi</vt:lpstr>
      <vt:lpstr>Franklin Gothic Medium</vt:lpstr>
      <vt:lpstr>Wingdings</vt:lpstr>
      <vt:lpstr>Office 主题</vt:lpstr>
      <vt:lpstr>Advanced Programming</vt:lpstr>
      <vt:lpstr>PowerPoint 演示文稿</vt:lpstr>
      <vt:lpstr>PowerPoint 演示文稿</vt:lpstr>
      <vt:lpstr>Exercise: </vt:lpstr>
      <vt:lpstr>PowerPoint 演示文稿</vt:lpstr>
    </vt:vector>
  </TitlesOfParts>
  <Company>Southern University of Science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C/C++ Program Design</dc:title>
  <dc:creator>Shiqi Yu</dc:creator>
  <cp:lastModifiedBy>Shiqi Yu</cp:lastModifiedBy>
  <cp:revision>1149</cp:revision>
  <dcterms:created xsi:type="dcterms:W3CDTF">2020-09-05T08:11:00Z</dcterms:created>
  <dcterms:modified xsi:type="dcterms:W3CDTF">2026-05-25T09:56:34Z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739579C7EFA44A4AB4406E6E4EDFE2A4</vt:lpwstr>
  </property>
  <property fmtid="{D5CDD505-2E9C-101B-9397-08002B2CF9AE}" pid="3" name="KSOProductBuildVer">
    <vt:lpwstr>2052-12.1.0.21171</vt:lpwstr>
  </property>
</Properties>
</file>