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719" r:id="rId3"/>
    <p:sldId id="720" r:id="rId4"/>
    <p:sldId id="721" r:id="rId5"/>
    <p:sldId id="722" r:id="rId6"/>
    <p:sldId id="723" r:id="rId7"/>
    <p:sldId id="724" r:id="rId8"/>
    <p:sldId id="726" r:id="rId9"/>
    <p:sldId id="725" r:id="rId10"/>
    <p:sldId id="727" r:id="rId11"/>
    <p:sldId id="728" r:id="rId12"/>
    <p:sldId id="729" r:id="rId13"/>
    <p:sldId id="730" r:id="rId14"/>
    <p:sldId id="731" r:id="rId15"/>
    <p:sldId id="732" r:id="rId16"/>
    <p:sldId id="733" r:id="rId17"/>
    <p:sldId id="734" r:id="rId18"/>
    <p:sldId id="735" r:id="rId19"/>
    <p:sldId id="737" r:id="rId20"/>
    <p:sldId id="738" r:id="rId21"/>
    <p:sldId id="739" r:id="rId22"/>
    <p:sldId id="740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48" autoAdjust="0"/>
    <p:restoredTop sz="94660"/>
  </p:normalViewPr>
  <p:slideViewPr>
    <p:cSldViewPr snapToGrid="0">
      <p:cViewPr varScale="1">
        <p:scale>
          <a:sx n="91" d="100"/>
          <a:sy n="91" d="100"/>
        </p:scale>
        <p:origin x="208" y="1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4F3F22-B4BB-3F48-9180-464A9F2D66D1}" type="datetimeFigureOut">
              <a:rPr kumimoji="1" lang="zh-CN" altLang="en-US" smtClean="0"/>
              <a:t>2026/5/25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9692CB-2397-CF44-9044-134362C6998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6337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9692CB-2397-CF44-9044-134362C69983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6510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3474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8752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09F6358-1E5B-E540-B1EC-784FFD4F9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24589" b="40606"/>
          <a:stretch/>
        </p:blipFill>
        <p:spPr>
          <a:xfrm>
            <a:off x="65507" y="0"/>
            <a:ext cx="351589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909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50B810D5-562C-6D40-A798-62FEF5ACFC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6479" y="264221"/>
            <a:ext cx="10515600" cy="833631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4849968"/>
          </a:xfrm>
        </p:spPr>
        <p:txBody>
          <a:bodyPr/>
          <a:lstStyle>
            <a:lvl2pPr marL="914400" indent="-457200">
              <a:buFont typeface="Wingdings" panose="05000000000000000000" pitchFamily="2" charset="2"/>
              <a:buChar char="Ø"/>
              <a:defRPr/>
            </a:lvl2pPr>
            <a:lvl3pPr marL="1143000" indent="-228600">
              <a:buFont typeface="Wingdings" panose="05000000000000000000" pitchFamily="2" charset="2"/>
              <a:buChar char="ü"/>
              <a:defRPr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8424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24634" y="365125"/>
            <a:ext cx="922916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BBC21BE-914F-984C-819E-13DA00BEE2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914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10320" y="365125"/>
            <a:ext cx="9245067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4EF34E2-55C5-FE4B-9D4B-1C371C023E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53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C6DD9DA-D04B-234F-AF7F-359B1655B7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216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A27BA66-27EF-F848-B5D4-C6E63ED696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192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0094918-5C39-5840-99AC-03CB479DEC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76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71DD87C-9BE8-504F-A482-28FE7FDABC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953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4FF3E64-915C-7F40-AA27-6031D114BF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73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114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178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256E3FFC-E533-B542-B981-71BF4DFC58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41982"/>
            <a:ext cx="1183341" cy="416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426916" y="6356350"/>
            <a:ext cx="2154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9A4FA-3D9A-4114-B0D5-759CBD56F1AB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066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1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□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07592"/>
            <a:ext cx="9144000" cy="1772603"/>
          </a:xfrm>
        </p:spPr>
        <p:txBody>
          <a:bodyPr>
            <a:noAutofit/>
          </a:bodyPr>
          <a:lstStyle/>
          <a:p>
            <a:r>
              <a:rPr lang="en-US" altLang="zh-CN" b="1" dirty="0">
                <a:latin typeface="Franklin Gothic Demi" panose="020B0703020102020204" pitchFamily="34" charset="0"/>
                <a:sym typeface="+mn-ea"/>
              </a:rPr>
              <a:t>Advanced</a:t>
            </a:r>
            <a:r>
              <a:rPr lang="zh-CN" altLang="en-US" b="1" dirty="0">
                <a:latin typeface="Franklin Gothic Demi" panose="020B0703020102020204" pitchFamily="34" charset="0"/>
                <a:sym typeface="+mn-ea"/>
              </a:rPr>
              <a:t> </a:t>
            </a:r>
            <a:r>
              <a:rPr lang="en-US" altLang="zh-CN" b="1" dirty="0">
                <a:latin typeface="Franklin Gothic Demi" panose="020B0703020102020204" pitchFamily="34" charset="0"/>
                <a:sym typeface="+mn-ea"/>
              </a:rPr>
              <a:t>Programming</a:t>
            </a:r>
            <a:endParaRPr lang="zh-CN" altLang="en-US" b="1" dirty="0">
              <a:latin typeface="Franklin Gothic Demi" panose="020B0703020102020204" pitchFamily="3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260035"/>
            <a:ext cx="9144000" cy="2767054"/>
          </a:xfrm>
        </p:spPr>
        <p:txBody>
          <a:bodyPr>
            <a:normAutofit/>
          </a:bodyPr>
          <a:lstStyle/>
          <a:p>
            <a:endParaRPr lang="en-US" altLang="zh-CN" sz="3600" dirty="0">
              <a:latin typeface="Franklin Gothic Medium" panose="020B0603020102020204" pitchFamily="34" charset="0"/>
            </a:endParaRPr>
          </a:p>
          <a:p>
            <a:endParaRPr lang="en-US" altLang="zh-CN" dirty="0">
              <a:latin typeface="Franklin Gothic Medium" panose="020B0603020102020204" pitchFamily="34" charset="0"/>
            </a:endParaRPr>
          </a:p>
          <a:p>
            <a:r>
              <a:rPr lang="en-US" altLang="zh-CN" dirty="0">
                <a:latin typeface="Franklin Gothic Medium" panose="020B0603020102020204" pitchFamily="34" charset="0"/>
              </a:rPr>
              <a:t>Prof. </a:t>
            </a:r>
            <a:r>
              <a:rPr lang="en-US" altLang="zh-CN" dirty="0" err="1">
                <a:latin typeface="Franklin Gothic Medium" panose="020B0603020102020204" pitchFamily="34" charset="0"/>
              </a:rPr>
              <a:t>Shiqi</a:t>
            </a:r>
            <a:r>
              <a:rPr lang="en-US" altLang="zh-CN" dirty="0">
                <a:latin typeface="Franklin Gothic Medium" panose="020B0603020102020204" pitchFamily="34" charset="0"/>
              </a:rPr>
              <a:t> Yu</a:t>
            </a:r>
            <a:r>
              <a:rPr lang="zh-CN" altLang="en-US" dirty="0">
                <a:latin typeface="Franklin Gothic Medium" panose="020B0603020102020204" pitchFamily="34" charset="0"/>
              </a:rPr>
              <a:t> </a:t>
            </a:r>
            <a:r>
              <a:rPr lang="en-US" altLang="zh-CN" dirty="0">
                <a:latin typeface="Franklin Gothic Medium" panose="020B0603020102020204" pitchFamily="34" charset="0"/>
              </a:rPr>
              <a:t>(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于仕琪</a:t>
            </a:r>
            <a:r>
              <a:rPr lang="en-US" altLang="zh-CN" dirty="0">
                <a:latin typeface="Franklin Gothic Medium" panose="020B0603020102020204" pitchFamily="34" charset="0"/>
              </a:rPr>
              <a:t>)</a:t>
            </a:r>
          </a:p>
          <a:p>
            <a:r>
              <a:rPr lang="en-US" altLang="zh-CN" dirty="0">
                <a:latin typeface="Courier" pitchFamily="2" charset="0"/>
              </a:rPr>
              <a:t>yusq@sustech.edu.cn</a:t>
            </a:r>
          </a:p>
          <a:p>
            <a:r>
              <a:rPr lang="en-US" altLang="zh-CN" sz="1800" dirty="0">
                <a:latin typeface="Courier" pitchFamily="2" charset="0"/>
              </a:rPr>
              <a:t>http://</a:t>
            </a:r>
            <a:r>
              <a:rPr lang="en-US" altLang="zh-CN" sz="1800" dirty="0" err="1">
                <a:latin typeface="Courier" pitchFamily="2" charset="0"/>
              </a:rPr>
              <a:t>faculty.sustech.edu.cn</a:t>
            </a:r>
            <a:r>
              <a:rPr lang="en-US" altLang="zh-CN" sz="1800" dirty="0">
                <a:latin typeface="Courier" pitchFamily="2" charset="0"/>
              </a:rPr>
              <a:t>/</a:t>
            </a:r>
            <a:r>
              <a:rPr lang="en-US" altLang="zh-CN" sz="1800" dirty="0" err="1">
                <a:latin typeface="Courier" pitchFamily="2" charset="0"/>
              </a:rPr>
              <a:t>yusq</a:t>
            </a:r>
            <a:r>
              <a:rPr lang="en-US" altLang="zh-CN" sz="1800" dirty="0">
                <a:latin typeface="Courier" pitchFamily="2" charset="0"/>
              </a:rPr>
              <a:t>/</a:t>
            </a:r>
          </a:p>
          <a:p>
            <a:endParaRPr lang="en-US" altLang="zh-CN" dirty="0"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599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135AC94-1BFD-D54F-AE3B-379F7F5E3F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zh-CN" dirty="0"/>
              <a:t>Standard Output Stream and Standard Error Stream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2E62FD1A-96C7-4843-8EB3-70EF953859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446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1867AE-EEB2-FF4F-A1B6-5840F80A6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CN" dirty="0"/>
              <a:t>stdin, </a:t>
            </a:r>
            <a:r>
              <a:rPr kumimoji="1" lang="en" altLang="zh-CN" dirty="0" err="1"/>
              <a:t>stdout</a:t>
            </a:r>
            <a:r>
              <a:rPr kumimoji="1" lang="en" altLang="zh-CN" dirty="0"/>
              <a:t>, stderr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085B35-7361-454D-B1BF-00FF49953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In C, three text streams are predefined, and their type is (</a:t>
            </a:r>
            <a:r>
              <a:rPr kumimoji="1" lang="en-US" altLang="zh-CN" dirty="0">
                <a:solidFill>
                  <a:srgbClr val="0000CC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FILE *</a:t>
            </a:r>
            <a:r>
              <a:rPr kumimoji="1" lang="en-US" altLang="zh-CN" dirty="0"/>
              <a:t>).</a:t>
            </a:r>
          </a:p>
          <a:p>
            <a:r>
              <a:rPr kumimoji="1" lang="en-US" altLang="zh-CN" dirty="0">
                <a:solidFill>
                  <a:srgbClr val="0000CC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stdin</a:t>
            </a:r>
            <a:r>
              <a:rPr kumimoji="1" lang="en-US" altLang="zh-CN" dirty="0"/>
              <a:t>: standard input stream</a:t>
            </a:r>
          </a:p>
          <a:p>
            <a:r>
              <a:rPr kumimoji="1" lang="en-US" altLang="zh-CN" dirty="0" err="1">
                <a:solidFill>
                  <a:srgbClr val="0000CC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stdout</a:t>
            </a:r>
            <a:r>
              <a:rPr kumimoji="1" lang="en-US" altLang="zh-CN" dirty="0"/>
              <a:t>: standard output stream, </a:t>
            </a:r>
            <a:r>
              <a:rPr lang="en" altLang="zh-CN" dirty="0"/>
              <a:t>for conventional output</a:t>
            </a:r>
            <a:endParaRPr kumimoji="1" lang="en-US" altLang="zh-CN" dirty="0"/>
          </a:p>
          <a:p>
            <a:r>
              <a:rPr kumimoji="1" lang="en-US" altLang="zh-CN" dirty="0">
                <a:solidFill>
                  <a:srgbClr val="0000CC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stderr</a:t>
            </a:r>
            <a:r>
              <a:rPr kumimoji="1" lang="en-US" altLang="zh-CN" dirty="0"/>
              <a:t>: standard error stream, for diagnostic output.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Why do we need the "ugly" black command windows?</a:t>
            </a:r>
          </a:p>
        </p:txBody>
      </p:sp>
    </p:spTree>
    <p:extLst>
      <p:ext uri="{BB962C8B-B14F-4D97-AF65-F5344CB8AC3E}">
        <p14:creationId xmlns:p14="http://schemas.microsoft.com/office/powerpoint/2010/main" val="2334905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DC00F2-E74E-3144-B6CF-140065CD9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CN" dirty="0"/>
              <a:t>Command-line Interface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258705-0F9C-7943-96BF-41EF7FCE5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833631"/>
          </a:xfrm>
        </p:spPr>
        <p:txBody>
          <a:bodyPr/>
          <a:lstStyle/>
          <a:p>
            <a:r>
              <a:rPr kumimoji="1" lang="en-US" altLang="zh-CN" dirty="0"/>
              <a:t>The ONLY interface in the past.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43455E7-0C8B-554A-885B-8F17123E3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2118" y="974951"/>
            <a:ext cx="6083313" cy="3722424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994F49F2-ACE9-7A40-A9DA-D7BFAAFA3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730" y="2036675"/>
            <a:ext cx="5143919" cy="3857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CC5387F-B44D-FF40-A1D3-E78F9AA95786}"/>
              </a:ext>
            </a:extLst>
          </p:cNvPr>
          <p:cNvSpPr/>
          <p:nvPr/>
        </p:nvSpPr>
        <p:spPr>
          <a:xfrm>
            <a:off x="424665" y="5894614"/>
            <a:ext cx="53548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/>
              <a:t>The end of the HELP command output from RT-11SJ displayed on a VT100.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B18B3E-E872-6E49-88A1-5EBE90A413F8}"/>
              </a:ext>
            </a:extLst>
          </p:cNvPr>
          <p:cNvSpPr/>
          <p:nvPr/>
        </p:nvSpPr>
        <p:spPr>
          <a:xfrm>
            <a:off x="1174330" y="6540945"/>
            <a:ext cx="53463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https://en.wikipedia.org/wiki/Command-line_interface</a:t>
            </a:r>
          </a:p>
        </p:txBody>
      </p:sp>
    </p:spTree>
    <p:extLst>
      <p:ext uri="{BB962C8B-B14F-4D97-AF65-F5344CB8AC3E}">
        <p14:creationId xmlns:p14="http://schemas.microsoft.com/office/powerpoint/2010/main" val="3885364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645508-B918-9342-B7BA-DDC48CF51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But We are in the 21st Centaury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B169FC-B206-AC4E-B2BF-1356CA699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We still need them!</a:t>
            </a:r>
          </a:p>
          <a:p>
            <a:pPr lvl="1"/>
            <a:r>
              <a:rPr kumimoji="1" lang="en-US" altLang="zh-CN" dirty="0"/>
              <a:t>Many computers still have no GUI: severs, intelligent devices</a:t>
            </a:r>
          </a:p>
          <a:p>
            <a:pPr lvl="1"/>
            <a:r>
              <a:rPr kumimoji="1" lang="en-US" altLang="zh-CN" dirty="0"/>
              <a:t>Many programs do not provide GUI: HTTP servers, DB servers, ...</a:t>
            </a:r>
          </a:p>
        </p:txBody>
      </p:sp>
    </p:spTree>
    <p:extLst>
      <p:ext uri="{BB962C8B-B14F-4D97-AF65-F5344CB8AC3E}">
        <p14:creationId xmlns:p14="http://schemas.microsoft.com/office/powerpoint/2010/main" val="2681647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3520A5-E46A-AB45-B4D3-A457F319A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Output Stream and Error Stream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A588CA-A33E-5D47-AE82-504B806ED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634624"/>
          </a:xfrm>
        </p:spPr>
        <p:txBody>
          <a:bodyPr/>
          <a:lstStyle/>
          <a:p>
            <a:r>
              <a:rPr kumimoji="1" lang="en-US" altLang="zh-CN" dirty="0"/>
              <a:t>Send contents into streams in C and C++</a:t>
            </a:r>
            <a:endParaRPr kumimoji="1"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83A3316-2B81-E946-91EE-CAEBB17282A7}"/>
              </a:ext>
            </a:extLst>
          </p:cNvPr>
          <p:cNvSpPr/>
          <p:nvPr/>
        </p:nvSpPr>
        <p:spPr>
          <a:xfrm>
            <a:off x="954268" y="2484520"/>
            <a:ext cx="6096000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fprintf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stdout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"Info: ...</a:t>
            </a:r>
            <a:r>
              <a:rPr lang="en" altLang="zh-CN" dirty="0">
                <a:solidFill>
                  <a:srgbClr val="EE0000"/>
                </a:solidFill>
                <a:latin typeface="Menlo" panose="020B0609030804020204" pitchFamily="49" charset="0"/>
              </a:rPr>
              <a:t>\n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...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printf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"Info: ...</a:t>
            </a:r>
            <a:r>
              <a:rPr lang="en" altLang="zh-CN" dirty="0">
                <a:solidFill>
                  <a:srgbClr val="EE0000"/>
                </a:solidFill>
                <a:latin typeface="Menlo" panose="020B0609030804020204" pitchFamily="49" charset="0"/>
              </a:rPr>
              <a:t> \n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...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fprintf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stderr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"Error: ...</a:t>
            </a:r>
            <a:r>
              <a:rPr lang="en" altLang="zh-CN" dirty="0">
                <a:solidFill>
                  <a:srgbClr val="EE0000"/>
                </a:solidFill>
                <a:latin typeface="Menlo" panose="020B0609030804020204" pitchFamily="49" charset="0"/>
              </a:rPr>
              <a:t>\n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...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B5177ED-AA65-8144-8339-DE32067CA774}"/>
              </a:ext>
            </a:extLst>
          </p:cNvPr>
          <p:cNvSpPr/>
          <p:nvPr/>
        </p:nvSpPr>
        <p:spPr>
          <a:xfrm>
            <a:off x="954268" y="4335028"/>
            <a:ext cx="6096000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"Info: ..."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cerr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"Error: ..."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55A4ADD-24B7-7E43-A8F7-D05EFD766895}"/>
              </a:ext>
            </a:extLst>
          </p:cNvPr>
          <p:cNvSpPr/>
          <p:nvPr/>
        </p:nvSpPr>
        <p:spPr>
          <a:xfrm>
            <a:off x="1376479" y="6457890"/>
            <a:ext cx="3416320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stderr.c</a:t>
            </a:r>
            <a:r>
              <a:rPr lang="en-US" altLang="zh-CN" sz="2000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   stderr</a:t>
            </a:r>
            <a:r>
              <a:rPr lang="en" altLang="zh-CN" sz="2000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.</a:t>
            </a:r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513440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BBE6CA-2EB7-C047-BBDB-94B2AA7DE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CN" dirty="0"/>
              <a:t>Redirection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374C94-2FF2-3049-9D99-D7C29A357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300" y="938864"/>
            <a:ext cx="11053879" cy="1631216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The output of a program is in a pipeline.</a:t>
            </a:r>
          </a:p>
          <a:p>
            <a:r>
              <a:rPr kumimoji="1" lang="en-US" altLang="zh-CN" dirty="0"/>
              <a:t>The output can be redirected. You can redirect the output into a file for debugging especially when the program run a very long time.</a:t>
            </a:r>
            <a:endParaRPr kumimoji="1" lang="zh-CN" altLang="en-US" dirty="0"/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19BE8D7C-14D9-EB4D-9BBC-378CCF08D1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6637" y="3848494"/>
            <a:ext cx="4969969" cy="2947307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E029DAF-83C6-5543-B9E5-D3F575B0276E}"/>
              </a:ext>
            </a:extLst>
          </p:cNvPr>
          <p:cNvSpPr/>
          <p:nvPr/>
        </p:nvSpPr>
        <p:spPr>
          <a:xfrm>
            <a:off x="1146637" y="6488668"/>
            <a:ext cx="47171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https://en.wikipedia.org/wiki/Standard_streams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1729E9-DCF6-0044-B8B4-528ED63E83F1}"/>
              </a:ext>
            </a:extLst>
          </p:cNvPr>
          <p:cNvSpPr/>
          <p:nvPr/>
        </p:nvSpPr>
        <p:spPr>
          <a:xfrm>
            <a:off x="999680" y="2398598"/>
            <a:ext cx="4864082" cy="163121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./program | less</a:t>
            </a:r>
          </a:p>
          <a:p>
            <a:r>
              <a:rPr lang="en" altLang="zh-CN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./program &gt; </a:t>
            </a:r>
            <a:r>
              <a:rPr lang="en" altLang="zh-CN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output.log</a:t>
            </a:r>
            <a:endParaRPr lang="en" altLang="zh-CN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" altLang="zh-CN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./program 1&gt; </a:t>
            </a:r>
            <a:r>
              <a:rPr lang="en" altLang="zh-CN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output.log</a:t>
            </a:r>
            <a:endParaRPr lang="en" altLang="zh-CN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" altLang="zh-CN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./program &gt;&gt; </a:t>
            </a:r>
            <a:r>
              <a:rPr lang="en" altLang="zh-CN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output.log</a:t>
            </a:r>
            <a:endParaRPr lang="en" altLang="zh-CN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" altLang="zh-CN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./program &gt; /dev/null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694A71A-C112-FD41-9962-97C59170CCC5}"/>
              </a:ext>
            </a:extLst>
          </p:cNvPr>
          <p:cNvSpPr/>
          <p:nvPr/>
        </p:nvSpPr>
        <p:spPr>
          <a:xfrm>
            <a:off x="6025242" y="2342539"/>
            <a:ext cx="5866835" cy="13234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./program 2&gt; </a:t>
            </a:r>
            <a:r>
              <a:rPr lang="en" altLang="zh-CN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error.log</a:t>
            </a:r>
            <a:endParaRPr lang="en" altLang="zh-CN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" altLang="zh-CN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./program &gt; </a:t>
            </a:r>
            <a:r>
              <a:rPr lang="en" altLang="zh-CN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output.log</a:t>
            </a:r>
            <a:r>
              <a:rPr lang="en" altLang="zh-CN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2&gt; </a:t>
            </a:r>
            <a:r>
              <a:rPr lang="en" altLang="zh-CN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error.log</a:t>
            </a:r>
            <a:endParaRPr lang="en" altLang="zh-CN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" altLang="zh-CN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./program &amp;&gt; </a:t>
            </a:r>
            <a:r>
              <a:rPr lang="en" altLang="zh-CN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all.log</a:t>
            </a:r>
            <a:endParaRPr lang="en" altLang="zh-CN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" altLang="zh-CN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./program &gt; </a:t>
            </a:r>
            <a:r>
              <a:rPr lang="en" altLang="zh-CN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all.log</a:t>
            </a:r>
            <a:r>
              <a:rPr lang="en" altLang="zh-CN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2&gt;&amp;1</a:t>
            </a:r>
          </a:p>
        </p:txBody>
      </p:sp>
    </p:spTree>
    <p:extLst>
      <p:ext uri="{BB962C8B-B14F-4D97-AF65-F5344CB8AC3E}">
        <p14:creationId xmlns:p14="http://schemas.microsoft.com/office/powerpoint/2010/main" val="628742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14E7A3C-4C47-9047-AA3C-8A44D6674F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assert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804B6B12-368B-5847-873A-4EDD2A6E93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869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19BBDC-1B60-B446-9402-2116D4792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assert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FAA861-59E0-4F4B-9247-E6838D2B6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6838"/>
            <a:ext cx="11053879" cy="833631"/>
          </a:xfrm>
        </p:spPr>
        <p:txBody>
          <a:bodyPr/>
          <a:lstStyle/>
          <a:p>
            <a:r>
              <a:rPr kumimoji="1" lang="en-US" altLang="zh-CN" dirty="0">
                <a:solidFill>
                  <a:srgbClr val="0000CC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assert</a:t>
            </a:r>
            <a:r>
              <a:rPr kumimoji="1" lang="en-US" altLang="zh-CN" dirty="0"/>
              <a:t> is a function-like macro in &lt;</a:t>
            </a:r>
            <a:r>
              <a:rPr kumimoji="1" lang="en-US" altLang="zh-CN" dirty="0" err="1"/>
              <a:t>assert.h</a:t>
            </a:r>
            <a:r>
              <a:rPr kumimoji="1" lang="en-US" altLang="zh-CN" dirty="0"/>
              <a:t>&gt; and &lt;</a:t>
            </a:r>
            <a:r>
              <a:rPr kumimoji="1" lang="en-US" altLang="zh-CN" dirty="0" err="1"/>
              <a:t>cassert</a:t>
            </a:r>
            <a:r>
              <a:rPr kumimoji="1" lang="en-US" altLang="zh-CN" dirty="0"/>
              <a:t>&gt;.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D8BB6DE-B6B7-0740-827C-17EB8F7D7FB1}"/>
              </a:ext>
            </a:extLst>
          </p:cNvPr>
          <p:cNvSpPr/>
          <p:nvPr/>
        </p:nvSpPr>
        <p:spPr>
          <a:xfrm>
            <a:off x="1345887" y="1674605"/>
            <a:ext cx="820238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#ifdef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NDEBUG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# define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assert(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condition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) ((void)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)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#else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# define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assert(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condition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)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/*implementation defined*/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#endif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ED8D285F-B696-1147-A560-9D8069D524D7}"/>
              </a:ext>
            </a:extLst>
          </p:cNvPr>
          <p:cNvSpPr txBox="1">
            <a:spLocks/>
          </p:cNvSpPr>
          <p:nvPr/>
        </p:nvSpPr>
        <p:spPr>
          <a:xfrm>
            <a:off x="838199" y="3358284"/>
            <a:ext cx="9217762" cy="133909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Do nothing if the condition is true</a:t>
            </a:r>
          </a:p>
          <a:p>
            <a:r>
              <a:rPr kumimoji="1" lang="en-US" altLang="zh-CN" dirty="0"/>
              <a:t>Output diagnostic information and call abort() if the condition is false.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B6B29ED-C771-794B-B033-7E06B798F5F6}"/>
              </a:ext>
            </a:extLst>
          </p:cNvPr>
          <p:cNvSpPr/>
          <p:nvPr/>
        </p:nvSpPr>
        <p:spPr>
          <a:xfrm>
            <a:off x="838199" y="4746361"/>
            <a:ext cx="7372633" cy="1771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kumimoji="1" lang="en-US" altLang="zh-CN" sz="2800" dirty="0"/>
              <a:t>If NDEBUG is defined, do nothing whatever the condition is.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kumimoji="1" lang="en-US" altLang="zh-CN" sz="2800" dirty="0"/>
              <a:t>assert can be used only for debugging, be removed by a macro NDEBUG before releasing.</a:t>
            </a:r>
            <a:endParaRPr kumimoji="1" lang="zh-CN" altLang="en-US" sz="28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EE5F1-2A25-3A44-91F8-D0133E24B654}"/>
              </a:ext>
            </a:extLst>
          </p:cNvPr>
          <p:cNvSpPr/>
          <p:nvPr/>
        </p:nvSpPr>
        <p:spPr>
          <a:xfrm>
            <a:off x="1257300" y="6457890"/>
            <a:ext cx="1723549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assert.cpp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368908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5C8636-3DE6-1F47-B943-55AA47EF5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assert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A8C826-74F2-E045-94A9-CD6BFA025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843" y="1310666"/>
            <a:ext cx="11053879" cy="2967420"/>
          </a:xfrm>
        </p:spPr>
        <p:txBody>
          <a:bodyPr/>
          <a:lstStyle/>
          <a:p>
            <a:r>
              <a:rPr kumimoji="1" lang="en-US" altLang="zh-CN" dirty="0"/>
              <a:t>Many applications define their own assert macros.</a:t>
            </a:r>
          </a:p>
          <a:p>
            <a:r>
              <a:rPr kumimoji="1" lang="en-US" altLang="zh-CN" dirty="0" err="1"/>
              <a:t>CV_Assert</a:t>
            </a:r>
            <a:r>
              <a:rPr kumimoji="1" lang="en-US" altLang="zh-CN" dirty="0"/>
              <a:t> in OpenCV checks a condition at runtime and throws exception if it fails.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cv::error() may behavior differently with different settings.</a:t>
            </a:r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243FB12-3E54-F44F-92C0-A807386661F7}"/>
              </a:ext>
            </a:extLst>
          </p:cNvPr>
          <p:cNvSpPr/>
          <p:nvPr/>
        </p:nvSpPr>
        <p:spPr>
          <a:xfrm>
            <a:off x="212272" y="2794376"/>
            <a:ext cx="119797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#define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CV_Assert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(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expr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) </a:t>
            </a: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do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{ </a:t>
            </a: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!!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(expr)) ; </a:t>
            </a: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else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cv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error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(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cv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Error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StsAssert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#expr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CV_Func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, __FILE__, __LINE__ ); } </a:t>
            </a: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while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)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053D99C-5D38-F64A-83C2-07808B51F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835" y="4457967"/>
            <a:ext cx="4035724" cy="2400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7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E1AE633-902C-D54C-850D-DD51EE5DAF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Exceptions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50A72B44-D0A1-1C42-88A6-A530CCE700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076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C8B9E8-2EF5-D648-B810-AF1A60148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Error Handling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8D3290-68C3-804E-A5EE-50FCFC541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833631"/>
          </a:xfrm>
        </p:spPr>
        <p:txBody>
          <a:bodyPr/>
          <a:lstStyle/>
          <a:p>
            <a:r>
              <a:rPr kumimoji="1" lang="en-US" altLang="zh-CN" dirty="0"/>
              <a:t>Solution 1: Kill the program when error occurs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9231444-C4EC-A94A-B7DC-AC4F070DED76}"/>
              </a:ext>
            </a:extLst>
          </p:cNvPr>
          <p:cNvSpPr/>
          <p:nvPr/>
        </p:nvSpPr>
        <p:spPr>
          <a:xfrm>
            <a:off x="1235529" y="2160626"/>
            <a:ext cx="1011827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ratio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if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fabs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&lt;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FLT_EPSILON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{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        std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cerr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"Error ..."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        std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abort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}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-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/ 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5E2A3AC-FD33-D542-8D6D-64F67D83FD64}"/>
              </a:ext>
            </a:extLst>
          </p:cNvPr>
          <p:cNvSpPr txBox="1">
            <a:spLocks/>
          </p:cNvSpPr>
          <p:nvPr/>
        </p:nvSpPr>
        <p:spPr>
          <a:xfrm>
            <a:off x="767725" y="4944439"/>
            <a:ext cx="11053879" cy="1270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A good solution? </a:t>
            </a:r>
          </a:p>
          <a:p>
            <a:r>
              <a:rPr kumimoji="1" lang="en-US" altLang="zh-CN" dirty="0"/>
              <a:t>If not, how to tell the caller?</a:t>
            </a:r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77E495-A3F4-D24E-B781-3FB3EE9B1644}"/>
              </a:ext>
            </a:extLst>
          </p:cNvPr>
          <p:cNvSpPr/>
          <p:nvPr/>
        </p:nvSpPr>
        <p:spPr>
          <a:xfrm>
            <a:off x="1257300" y="6457890"/>
            <a:ext cx="1723549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error1.cpp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67693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E2F5E7-17C0-9044-9661-3B05D5C18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Error Handling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6B413F-87C7-9D46-AFCE-17A850CEB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1073305"/>
          </a:xfrm>
        </p:spPr>
        <p:txBody>
          <a:bodyPr/>
          <a:lstStyle/>
          <a:p>
            <a:r>
              <a:rPr kumimoji="1" lang="en-US" altLang="zh-CN" dirty="0"/>
              <a:t>Solution 2: Tell the caller by the return value when error occurs</a:t>
            </a:r>
            <a:endParaRPr kumimoji="1" lang="zh-CN" altLang="en-US" dirty="0"/>
          </a:p>
          <a:p>
            <a:r>
              <a:rPr kumimoji="1" lang="en-US" altLang="zh-CN" dirty="0"/>
              <a:t>We have to use the 3</a:t>
            </a:r>
            <a:r>
              <a:rPr kumimoji="1" lang="en-US" altLang="zh-CN" baseline="30000" dirty="0"/>
              <a:t>rd</a:t>
            </a:r>
            <a:r>
              <a:rPr kumimoji="1" lang="en-US" altLang="zh-CN" dirty="0"/>
              <a:t> parameter to send the result.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0B1DF0C-EE5E-074E-B60B-156442FBDBEA}"/>
              </a:ext>
            </a:extLst>
          </p:cNvPr>
          <p:cNvSpPr/>
          <p:nvPr/>
        </p:nvSpPr>
        <p:spPr>
          <a:xfrm>
            <a:off x="996042" y="2668683"/>
            <a:ext cx="1019991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bool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ratio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&amp;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if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fabs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&lt;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FLT_EPSILON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{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        std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cerr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"Error ..." 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&lt;&lt;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false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}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-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/ 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true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D9A2FC0-4AE4-E742-B168-B4C504C383B2}"/>
              </a:ext>
            </a:extLst>
          </p:cNvPr>
          <p:cNvSpPr/>
          <p:nvPr/>
        </p:nvSpPr>
        <p:spPr>
          <a:xfrm>
            <a:off x="1257300" y="6457890"/>
            <a:ext cx="1723549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error2.cpp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07773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0FD133-DF50-744D-82A1-A6E0C3E3A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Error Handling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748DC5-42E2-F841-B63D-E94BDC9FC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833631"/>
          </a:xfrm>
        </p:spPr>
        <p:txBody>
          <a:bodyPr/>
          <a:lstStyle/>
          <a:p>
            <a:r>
              <a:rPr kumimoji="1" lang="en-US" altLang="zh-CN" dirty="0"/>
              <a:t>Solution 3: Throw exceptions (C++ feature)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7600A6-1585-A641-BBB0-41D8B8456CB9}"/>
              </a:ext>
            </a:extLst>
          </p:cNvPr>
          <p:cNvSpPr/>
          <p:nvPr/>
        </p:nvSpPr>
        <p:spPr>
          <a:xfrm>
            <a:off x="1104900" y="1890824"/>
            <a:ext cx="759822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ratio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if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fabs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&lt;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FLT_EPSILON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    throw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"Error ..."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-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/ 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6B02A92-E7AD-B445-A825-E1B70B7DDC16}"/>
              </a:ext>
            </a:extLst>
          </p:cNvPr>
          <p:cNvSpPr/>
          <p:nvPr/>
        </p:nvSpPr>
        <p:spPr>
          <a:xfrm>
            <a:off x="1104900" y="4008456"/>
            <a:ext cx="6128657" cy="23083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try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z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ratio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    std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z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catch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msg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    std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cerr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msg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1189A2-6273-3443-8767-5E89A0F55137}"/>
              </a:ext>
            </a:extLst>
          </p:cNvPr>
          <p:cNvSpPr/>
          <p:nvPr/>
        </p:nvSpPr>
        <p:spPr>
          <a:xfrm>
            <a:off x="1257300" y="6457890"/>
            <a:ext cx="1723549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error3.cpp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284772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F015FF8F-FCFF-3241-9BE4-0E1748698A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More About Exceptions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79E4E7B7-E597-2A4C-971D-E914F3CAA9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270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914551-416A-084B-935D-C07D343CE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CN" dirty="0"/>
              <a:t>Handling Exceptions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DA4F27-0443-8A46-BA7A-338ABADB5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6995"/>
            <a:ext cx="10902044" cy="833631"/>
          </a:xfrm>
        </p:spPr>
        <p:txBody>
          <a:bodyPr/>
          <a:lstStyle/>
          <a:p>
            <a:r>
              <a:rPr kumimoji="1" lang="en-US" altLang="zh-CN" dirty="0"/>
              <a:t>A try block can be followed by multiple catch blocks.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064775F-9E78-F84C-B8D9-C18747706D10}"/>
              </a:ext>
            </a:extLst>
          </p:cNvPr>
          <p:cNvSpPr/>
          <p:nvPr/>
        </p:nvSpPr>
        <p:spPr>
          <a:xfrm>
            <a:off x="451757" y="2483644"/>
            <a:ext cx="7206343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ratio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if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    throw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if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    throw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if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fabs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&lt;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FLT_EPSILON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    throw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"Error ..."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-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/ 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A58237-1A97-5547-94C1-5DC2333BE8EE}"/>
              </a:ext>
            </a:extLst>
          </p:cNvPr>
          <p:cNvSpPr/>
          <p:nvPr/>
        </p:nvSpPr>
        <p:spPr>
          <a:xfrm>
            <a:off x="6901543" y="1743810"/>
            <a:ext cx="4838700" cy="20313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try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z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ratio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catch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msg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{...}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catch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eid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{...}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F45CD6-01A5-F946-BC9B-1DD925FFDBD6}"/>
              </a:ext>
            </a:extLst>
          </p:cNvPr>
          <p:cNvSpPr/>
          <p:nvPr/>
        </p:nvSpPr>
        <p:spPr>
          <a:xfrm>
            <a:off x="1257300" y="6457890"/>
            <a:ext cx="1723549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error4.cpp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22251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5ED5BE-B62C-DF46-882C-3C2BBABED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CN" dirty="0"/>
              <a:t>Stack Unwinding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BCF67E-281A-2849-B9F5-158475C69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060" y="966616"/>
            <a:ext cx="11622940" cy="1224642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If an exception is not handled in the function, throw it to the caller.</a:t>
            </a:r>
          </a:p>
          <a:p>
            <a:r>
              <a:rPr kumimoji="1" lang="en-US" altLang="zh-CN" dirty="0"/>
              <a:t>If the caller does not handle, throw it to the caller of the caller, or until main()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047C75A-7B94-D545-A884-69F335C2A009}"/>
              </a:ext>
            </a:extLst>
          </p:cNvPr>
          <p:cNvSpPr/>
          <p:nvPr/>
        </p:nvSpPr>
        <p:spPr>
          <a:xfrm>
            <a:off x="1186543" y="1843323"/>
            <a:ext cx="7859486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ratio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if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    throw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if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    throw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if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fabs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-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&lt;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FLT_EPSILON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    throw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"Error ..."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-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/ 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ratio_wrapper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try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ratio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}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catch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eid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){...}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F661296-D35C-DE44-8405-A770B2FD0E9B}"/>
              </a:ext>
            </a:extLst>
          </p:cNvPr>
          <p:cNvSpPr/>
          <p:nvPr/>
        </p:nvSpPr>
        <p:spPr>
          <a:xfrm>
            <a:off x="7315200" y="1951672"/>
            <a:ext cx="4876800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try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z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ratio_wrapper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catch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msg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{...}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A08176-0441-8047-9DDE-206074A148A7}"/>
              </a:ext>
            </a:extLst>
          </p:cNvPr>
          <p:cNvSpPr/>
          <p:nvPr/>
        </p:nvSpPr>
        <p:spPr>
          <a:xfrm>
            <a:off x="3592286" y="6457890"/>
            <a:ext cx="1723549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error5.cpp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64938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8B84C8-FB1D-F34B-A947-F50204566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CN" dirty="0"/>
              <a:t>Catch-all Handler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48A859-5693-8946-8838-09D7B2F35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97852"/>
            <a:ext cx="11053879" cy="1726991"/>
          </a:xfrm>
        </p:spPr>
        <p:txBody>
          <a:bodyPr>
            <a:normAutofit/>
          </a:bodyPr>
          <a:lstStyle/>
          <a:p>
            <a:r>
              <a:rPr kumimoji="1" lang="en" altLang="zh-CN" dirty="0"/>
              <a:t>If an exception is not caught, it will reach to the top caller, and terminate the program😱</a:t>
            </a:r>
          </a:p>
          <a:p>
            <a:r>
              <a:rPr kumimoji="1" lang="en" altLang="zh-CN" dirty="0"/>
              <a:t> A catch-all handler can catch all kinds of exceptions.</a:t>
            </a:r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C06A4CD-FD05-C247-9500-B03841FC369D}"/>
              </a:ext>
            </a:extLst>
          </p:cNvPr>
          <p:cNvSpPr/>
          <p:nvPr/>
        </p:nvSpPr>
        <p:spPr>
          <a:xfrm>
            <a:off x="1376479" y="2610683"/>
            <a:ext cx="8839201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main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runSomething1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();</a:t>
            </a:r>
            <a:endParaRPr lang="en" altLang="zh-CN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try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{</a:t>
            </a: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    runSomething2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}</a:t>
            </a: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runSomeOthers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();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catch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(...)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{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         std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cerr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"Unrecognized Exception"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 }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 </a:t>
            </a: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5572B80-807D-8E4B-9C15-1921322A6A02}"/>
              </a:ext>
            </a:extLst>
          </p:cNvPr>
          <p:cNvSpPr/>
          <p:nvPr/>
        </p:nvSpPr>
        <p:spPr>
          <a:xfrm>
            <a:off x="1976320" y="5045529"/>
            <a:ext cx="1774935" cy="391886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76087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AF3C41-94D0-4041-B4FD-B9C23F0F9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CN" dirty="0"/>
              <a:t>Exceptions and Inheritance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2CE0E0-BBA1-DB43-8302-DB8EA4780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1481519"/>
          </a:xfrm>
        </p:spPr>
        <p:txBody>
          <a:bodyPr/>
          <a:lstStyle/>
          <a:p>
            <a:r>
              <a:rPr kumimoji="1" lang="en-US" altLang="zh-CN" dirty="0"/>
              <a:t>If an object is thrown, and its class is derived from another class.</a:t>
            </a:r>
          </a:p>
          <a:p>
            <a:r>
              <a:rPr kumimoji="1" lang="en-US" altLang="zh-CN" dirty="0"/>
              <a:t>An exception handler with the base class type can catch the exception.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A1D1D1D-2CA8-F443-ACC0-BC060B7CC527}"/>
              </a:ext>
            </a:extLst>
          </p:cNvPr>
          <p:cNvSpPr/>
          <p:nvPr/>
        </p:nvSpPr>
        <p:spPr>
          <a:xfrm>
            <a:off x="1066235" y="2677886"/>
            <a:ext cx="788182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try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throw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Derived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catch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Base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&amp;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base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    std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cerr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"I caught Base."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catch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Derived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&amp;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derived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 never reach here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    std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cerr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"I caught Derived."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06FEE9A-C338-684F-B8C9-0E24A9C84CFB}"/>
              </a:ext>
            </a:extLst>
          </p:cNvPr>
          <p:cNvSpPr/>
          <p:nvPr/>
        </p:nvSpPr>
        <p:spPr>
          <a:xfrm>
            <a:off x="3592286" y="6457890"/>
            <a:ext cx="1877437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derived.cpp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8946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447742-00ED-4A42-B5AF-C014A8DDD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CN" dirty="0"/>
              <a:t>std::exception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923A1F-0370-BC4D-B5E5-07812E178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rgbClr val="0000CC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std::exception </a:t>
            </a:r>
            <a:r>
              <a:rPr kumimoji="1" lang="en-US" altLang="zh-CN" dirty="0"/>
              <a:t>is a class that can be a base class for any exception.</a:t>
            </a:r>
          </a:p>
          <a:p>
            <a:r>
              <a:rPr kumimoji="1" lang="en-US" altLang="zh-CN" dirty="0"/>
              <a:t>Function </a:t>
            </a:r>
            <a:r>
              <a:rPr kumimoji="1" lang="en-US" altLang="zh-CN" dirty="0" err="1">
                <a:solidFill>
                  <a:srgbClr val="0000CC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std:exception</a:t>
            </a:r>
            <a:r>
              <a:rPr kumimoji="1" lang="en-US" altLang="zh-CN" dirty="0">
                <a:solidFill>
                  <a:srgbClr val="0000CC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::what()</a:t>
            </a:r>
            <a:r>
              <a:rPr kumimoji="1" lang="en-US" altLang="zh-CN" dirty="0"/>
              <a:t> can be overridden to return a C-style string message.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9249043-D1DA-4B42-B15C-A63256427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92" y="3729182"/>
            <a:ext cx="3795992" cy="312881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0AD6C96-D7D1-AF4B-9B7A-13095AAC8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8753" y="3327400"/>
            <a:ext cx="4013200" cy="353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9839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BFE2CB-3F98-1F4C-87FA-866266AA1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>
                <a:latin typeface="+mn-lt"/>
                <a:ea typeface="+mn-ea"/>
                <a:cs typeface="+mn-cs"/>
              </a:rPr>
              <a:t>Exception Specifications and </a:t>
            </a:r>
            <a:r>
              <a:rPr kumimoji="1" lang="en-US" altLang="zh-CN" dirty="0" err="1">
                <a:solidFill>
                  <a:srgbClr val="0000CC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noexcept</a:t>
            </a:r>
            <a:endParaRPr kumimoji="1" lang="zh-CN" altLang="en-US" dirty="0">
              <a:solidFill>
                <a:srgbClr val="0000CC"/>
              </a:solidFill>
              <a:latin typeface="Menlo" panose="020B0609030804020204" pitchFamily="49" charset="0"/>
              <a:ea typeface="+mn-ea"/>
              <a:cs typeface="Menlo" panose="020B0609030804020204" pitchFamily="49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6D17DC-3D50-ED43-8F18-4A944FF63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599776"/>
          </a:xfrm>
        </p:spPr>
        <p:txBody>
          <a:bodyPr/>
          <a:lstStyle/>
          <a:p>
            <a:r>
              <a:rPr kumimoji="1" lang="en" altLang="zh-CN" dirty="0"/>
              <a:t>The </a:t>
            </a:r>
            <a:r>
              <a:rPr kumimoji="1" lang="en" altLang="zh-CN" dirty="0" err="1"/>
              <a:t>noexcept</a:t>
            </a:r>
            <a:r>
              <a:rPr kumimoji="1" lang="en" altLang="zh-CN" dirty="0"/>
              <a:t> specifier defines a function which will not throw anything.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4F6F09D-BABC-0C48-A571-8D740E9D0294}"/>
              </a:ext>
            </a:extLst>
          </p:cNvPr>
          <p:cNvSpPr/>
          <p:nvPr/>
        </p:nvSpPr>
        <p:spPr>
          <a:xfrm>
            <a:off x="1186543" y="1926771"/>
            <a:ext cx="101672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foo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 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noexcept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 this function is non-throwing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7758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BBF795-24EA-934E-B90B-0196394CC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CN" dirty="0" err="1">
                <a:solidFill>
                  <a:srgbClr val="0000CC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nothrow</a:t>
            </a:r>
            <a:r>
              <a:rPr lang="en" altLang="zh-CN">
                <a:solidFill>
                  <a:srgbClr val="0000CC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new</a:t>
            </a:r>
            <a:endParaRPr kumimoji="1" lang="zh-CN" altLang="en-US" dirty="0">
              <a:solidFill>
                <a:srgbClr val="0000CC"/>
              </a:solidFill>
              <a:latin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13CB16-EE58-0747-9A7F-DF82885A3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833631"/>
          </a:xfrm>
        </p:spPr>
        <p:txBody>
          <a:bodyPr/>
          <a:lstStyle/>
          <a:p>
            <a:r>
              <a:rPr kumimoji="1" lang="en-US" altLang="zh-CN"/>
              <a:t>std</a:t>
            </a:r>
            <a:r>
              <a:rPr kumimoji="1" lang="en-US" altLang="zh-CN" dirty="0"/>
              <a:t>::</a:t>
            </a:r>
            <a:r>
              <a:rPr kumimoji="1" lang="en-US" altLang="zh-CN" dirty="0" err="1"/>
              <a:t>nothrow</a:t>
            </a:r>
            <a:r>
              <a:rPr kumimoji="1" lang="en-US" altLang="zh-CN" dirty="0"/>
              <a:t> is a constant to select a non-throwing allocation function</a:t>
            </a:r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F3C6CE-BBEA-1649-A063-8BD861AF1CF0}"/>
              </a:ext>
            </a:extLst>
          </p:cNvPr>
          <p:cNvSpPr/>
          <p:nvPr/>
        </p:nvSpPr>
        <p:spPr>
          <a:xfrm>
            <a:off x="1588750" y="2215409"/>
            <a:ext cx="6096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NULL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try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{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 may throw an exception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p = </a:t>
            </a: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new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[length];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catch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bad_alloc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&amp; 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ba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cerr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ba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what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 &lt;&lt; 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 not throw an exception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p = </a:t>
            </a: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new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nothrow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[length];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(p==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NULL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 ... }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75845DE-6C69-494E-A602-DB5DF3B656CC}"/>
              </a:ext>
            </a:extLst>
          </p:cNvPr>
          <p:cNvSpPr/>
          <p:nvPr/>
        </p:nvSpPr>
        <p:spPr>
          <a:xfrm>
            <a:off x="3592286" y="6457890"/>
            <a:ext cx="1877437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nothrow.cpp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96970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32514</TotalTime>
  <Words>1414</Words>
  <Application>Microsoft Macintosh PowerPoint</Application>
  <PresentationFormat>宽屏</PresentationFormat>
  <Paragraphs>216</Paragraphs>
  <Slides>22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等线</vt:lpstr>
      <vt:lpstr>KaiTi</vt:lpstr>
      <vt:lpstr>Arial</vt:lpstr>
      <vt:lpstr>Calibri</vt:lpstr>
      <vt:lpstr>Courier</vt:lpstr>
      <vt:lpstr>Franklin Gothic Demi</vt:lpstr>
      <vt:lpstr>Franklin Gothic Medium</vt:lpstr>
      <vt:lpstr>Menlo</vt:lpstr>
      <vt:lpstr>Wingdings</vt:lpstr>
      <vt:lpstr>Office 主题</vt:lpstr>
      <vt:lpstr>Advanced Programming</vt:lpstr>
      <vt:lpstr>Standard Output Stream and Standard Error Stream</vt:lpstr>
      <vt:lpstr>stdin, stdout, stderr</vt:lpstr>
      <vt:lpstr>Command-line Interface</vt:lpstr>
      <vt:lpstr>But We are in the 21st Centaury</vt:lpstr>
      <vt:lpstr>Output Stream and Error Stream</vt:lpstr>
      <vt:lpstr>Redirection</vt:lpstr>
      <vt:lpstr>assert</vt:lpstr>
      <vt:lpstr>assert</vt:lpstr>
      <vt:lpstr>assert</vt:lpstr>
      <vt:lpstr>Exceptions</vt:lpstr>
      <vt:lpstr>Error Handling</vt:lpstr>
      <vt:lpstr>Error Handling</vt:lpstr>
      <vt:lpstr>Error Handling</vt:lpstr>
      <vt:lpstr>More About Exceptions</vt:lpstr>
      <vt:lpstr>Handling Exceptions</vt:lpstr>
      <vt:lpstr>Stack Unwinding</vt:lpstr>
      <vt:lpstr>Catch-all Handler</vt:lpstr>
      <vt:lpstr>Exceptions and Inheritance</vt:lpstr>
      <vt:lpstr>std::exception</vt:lpstr>
      <vt:lpstr>Exception Specifications and noexcept</vt:lpstr>
      <vt:lpstr>nothrow new</vt:lpstr>
    </vt:vector>
  </TitlesOfParts>
  <Manager/>
  <Company>Southern University of Science and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C/C++ Program Design</dc:title>
  <dc:subject/>
  <dc:creator>Shiqi Yu</dc:creator>
  <cp:keywords/>
  <dc:description/>
  <cp:lastModifiedBy>Shiqi Yu</cp:lastModifiedBy>
  <cp:revision>1754</cp:revision>
  <dcterms:created xsi:type="dcterms:W3CDTF">2020-09-05T08:11:12Z</dcterms:created>
  <dcterms:modified xsi:type="dcterms:W3CDTF">2026-05-25T09:45:24Z</dcterms:modified>
  <cp:category/>
</cp:coreProperties>
</file>