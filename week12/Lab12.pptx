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1065" r:id="rId3"/>
    <p:sldId id="1118" r:id="rId4"/>
    <p:sldId id="112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5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37EF7-A117-46B7-88A8-1B7FB98FF0F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05520-EB74-4E10-9207-DDFEA7EA0F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9199" y="3233141"/>
            <a:ext cx="10040471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12, class inheritance &amp; polymorphism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zh-CN" altLang="en-US" dirty="0">
                <a:latin typeface="Franklin Gothic Medium" panose="020B0603020102020204" pitchFamily="34" charset="0"/>
                <a:sym typeface="+mn-ea"/>
              </a:rPr>
              <a:t>廖琪梅，王大兴，于仕琪，王薇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3243" y="1204774"/>
            <a:ext cx="11505513" cy="633262"/>
          </a:xfrm>
        </p:spPr>
        <p:txBody>
          <a:bodyPr>
            <a:normAutofit/>
          </a:bodyPr>
          <a:lstStyle/>
          <a:p>
            <a:pPr marL="127000" lvl="1" indent="0">
              <a:spcBef>
                <a:spcPts val="0"/>
              </a:spcBef>
              <a:buSzPct val="68000"/>
              <a:buNone/>
            </a:pPr>
            <a:r>
              <a:rPr lang="en-US" sz="2500" dirty="0"/>
              <a:t>1. Please find the errors of the following code and explain why to SA.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74620" y="1752033"/>
            <a:ext cx="2715489" cy="452431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class Base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  private:</a:t>
            </a:r>
          </a:p>
          <a:p>
            <a:r>
              <a:rPr lang="en-US" altLang="zh-CN" sz="1600" b="0" dirty="0">
                <a:effectLst/>
              </a:rPr>
              <a:t>        int x;</a:t>
            </a:r>
          </a:p>
          <a:p>
            <a:r>
              <a:rPr lang="en-US" altLang="zh-CN" sz="1600" b="0" dirty="0">
                <a:effectLst/>
              </a:rPr>
              <a:t>    protected:</a:t>
            </a:r>
          </a:p>
          <a:p>
            <a:r>
              <a:rPr lang="en-US" altLang="zh-CN" sz="1600" b="0" dirty="0">
                <a:effectLst/>
              </a:rPr>
              <a:t>        int y;</a:t>
            </a:r>
          </a:p>
          <a:p>
            <a:r>
              <a:rPr lang="en-US" altLang="zh-CN" sz="1600" b="0" dirty="0">
                <a:effectLst/>
              </a:rPr>
              <a:t>    public:</a:t>
            </a:r>
          </a:p>
          <a:p>
            <a:r>
              <a:rPr lang="en-US" altLang="zh-CN" sz="1600" b="0" dirty="0">
                <a:effectLst/>
              </a:rPr>
              <a:t>        int z;</a:t>
            </a:r>
          </a:p>
          <a:p>
            <a:r>
              <a:rPr lang="en-US" altLang="zh-CN" sz="1600" b="0" dirty="0">
                <a:effectLst/>
              </a:rPr>
              <a:t>    void </a:t>
            </a:r>
            <a:r>
              <a:rPr lang="en-US" altLang="zh-CN" sz="1600" b="0" dirty="0" err="1">
                <a:effectLst/>
              </a:rPr>
              <a:t>funBase</a:t>
            </a:r>
            <a:r>
              <a:rPr lang="en-US" altLang="zh-CN" sz="1600" b="0" dirty="0">
                <a:effectLst/>
              </a:rPr>
              <a:t> (Base&amp; b)</a:t>
            </a:r>
          </a:p>
          <a:p>
            <a:r>
              <a:rPr lang="en-US" altLang="zh-CN" sz="1600" b="0" dirty="0">
                <a:effectLst/>
              </a:rPr>
              <a:t>    {</a:t>
            </a:r>
          </a:p>
          <a:p>
            <a:r>
              <a:rPr lang="en-US" altLang="zh-CN" sz="1600" b="0" dirty="0">
                <a:effectLst/>
              </a:rPr>
              <a:t>        ++x;</a:t>
            </a:r>
          </a:p>
          <a:p>
            <a:r>
              <a:rPr lang="en-US" altLang="zh-CN" sz="1600" b="0" dirty="0">
                <a:effectLst/>
              </a:rPr>
              <a:t>        ++y;</a:t>
            </a:r>
          </a:p>
          <a:p>
            <a:r>
              <a:rPr lang="en-US" altLang="zh-CN" sz="1600" b="0" dirty="0">
                <a:effectLst/>
              </a:rPr>
              <a:t>        ++z;</a:t>
            </a:r>
          </a:p>
          <a:p>
            <a:r>
              <a:rPr lang="en-US" altLang="zh-CN" sz="1600" b="0" dirty="0">
                <a:effectLst/>
              </a:rPr>
              <a:t>        ++</a:t>
            </a:r>
            <a:r>
              <a:rPr lang="en-US" altLang="zh-CN" sz="1600" b="0" dirty="0" err="1">
                <a:effectLst/>
              </a:rPr>
              <a:t>b.x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++</a:t>
            </a:r>
            <a:r>
              <a:rPr lang="en-US" altLang="zh-CN" sz="1600" b="0" dirty="0" err="1">
                <a:effectLst/>
              </a:rPr>
              <a:t>b.y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++</a:t>
            </a:r>
            <a:r>
              <a:rPr lang="en-US" altLang="zh-CN" sz="1600" b="0" dirty="0" err="1">
                <a:effectLst/>
              </a:rPr>
              <a:t>b.z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14534" y="1944958"/>
            <a:ext cx="3796146" cy="403187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class </a:t>
            </a:r>
            <a:r>
              <a:rPr lang="en-US" altLang="zh-CN" sz="1600" b="0" dirty="0" err="1">
                <a:effectLst/>
              </a:rPr>
              <a:t>Derived:public</a:t>
            </a:r>
            <a:r>
              <a:rPr lang="en-US" altLang="zh-CN" sz="1600" b="0" dirty="0">
                <a:effectLst/>
              </a:rPr>
              <a:t> Base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  public:</a:t>
            </a:r>
          </a:p>
          <a:p>
            <a:r>
              <a:rPr lang="en-US" altLang="zh-CN" sz="1600" b="0" dirty="0">
                <a:effectLst/>
              </a:rPr>
              <a:t>        void </a:t>
            </a:r>
            <a:r>
              <a:rPr lang="en-US" altLang="zh-CN" sz="1600" b="0" dirty="0" err="1">
                <a:effectLst/>
              </a:rPr>
              <a:t>funDerived</a:t>
            </a:r>
            <a:r>
              <a:rPr lang="en-US" altLang="zh-CN" sz="1600" b="0" dirty="0">
                <a:effectLst/>
              </a:rPr>
              <a:t> (Base&amp; b, Derived&amp; d)</a:t>
            </a:r>
          </a:p>
          <a:p>
            <a:r>
              <a:rPr lang="en-US" altLang="zh-CN" sz="1600" b="0" dirty="0">
                <a:effectLst/>
              </a:rPr>
              <a:t>        {</a:t>
            </a:r>
          </a:p>
          <a:p>
            <a:r>
              <a:rPr lang="en-US" altLang="zh-CN" sz="1600" b="0" dirty="0">
                <a:effectLst/>
              </a:rPr>
              <a:t>            ++x;</a:t>
            </a:r>
          </a:p>
          <a:p>
            <a:r>
              <a:rPr lang="en-US" altLang="zh-CN" sz="1600" b="0" dirty="0">
                <a:effectLst/>
              </a:rPr>
              <a:t>            ++y;</a:t>
            </a:r>
          </a:p>
          <a:p>
            <a:r>
              <a:rPr lang="en-US" altLang="zh-CN" sz="1600" b="0" dirty="0">
                <a:effectLst/>
              </a:rPr>
              <a:t>            ++z;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b.x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b.y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b.z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d.x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d.y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    ++</a:t>
            </a:r>
            <a:r>
              <a:rPr lang="en-US" altLang="zh-CN" sz="1600" b="0" dirty="0" err="1">
                <a:effectLst/>
              </a:rPr>
              <a:t>d.z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   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35106" y="2139758"/>
            <a:ext cx="2687782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void fun(Base&amp; b, Derived&amp; d)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  ++x;</a:t>
            </a:r>
          </a:p>
          <a:p>
            <a:r>
              <a:rPr lang="en-US" altLang="zh-CN" sz="1600" b="0" dirty="0">
                <a:effectLst/>
              </a:rPr>
              <a:t>    ++y;</a:t>
            </a:r>
          </a:p>
          <a:p>
            <a:r>
              <a:rPr lang="en-US" altLang="zh-CN" sz="1600" b="0" dirty="0">
                <a:effectLst/>
              </a:rPr>
              <a:t>    ++z;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b.x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b.y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b.z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d.x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d.y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  ++</a:t>
            </a:r>
            <a:r>
              <a:rPr lang="en-US" altLang="zh-CN" sz="1600" b="0" dirty="0" err="1">
                <a:effectLst/>
              </a:rPr>
              <a:t>d.z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}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Exercise: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3243" y="1204774"/>
            <a:ext cx="11505513" cy="522426"/>
          </a:xfrm>
        </p:spPr>
        <p:txBody>
          <a:bodyPr>
            <a:normAutofit/>
          </a:bodyPr>
          <a:lstStyle/>
          <a:p>
            <a:pPr marL="127000" lvl="1" indent="0">
              <a:spcBef>
                <a:spcPts val="0"/>
              </a:spcBef>
              <a:buSzPct val="68000"/>
              <a:buNone/>
            </a:pPr>
            <a:r>
              <a:rPr lang="en-US" sz="2500" dirty="0"/>
              <a:t>2. Run the following program, and explain the result to SA.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8279" y="2190413"/>
            <a:ext cx="2851466" cy="35394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#include &lt;iostream&gt;</a:t>
            </a:r>
          </a:p>
          <a:p>
            <a:r>
              <a:rPr lang="en-US" altLang="zh-CN" sz="1600" b="0" dirty="0">
                <a:effectLst/>
              </a:rPr>
              <a:t>using namespace std;</a:t>
            </a:r>
          </a:p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protected:</a:t>
            </a:r>
          </a:p>
          <a:p>
            <a:r>
              <a:rPr lang="en-US" altLang="zh-CN" sz="1600" b="0" dirty="0">
                <a:effectLst/>
              </a:rPr>
              <a:t>    int width, height;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void </a:t>
            </a:r>
            <a:r>
              <a:rPr lang="en-US" altLang="zh-CN" sz="1600" b="0" dirty="0" err="1">
                <a:effectLst/>
              </a:rPr>
              <a:t>set_values</a:t>
            </a:r>
            <a:r>
              <a:rPr lang="en-US" altLang="zh-CN" sz="1600" b="0" dirty="0">
                <a:effectLst/>
              </a:rPr>
              <a:t> (int a, int b)</a:t>
            </a:r>
          </a:p>
          <a:p>
            <a:r>
              <a:rPr lang="en-US" altLang="zh-CN" sz="1600" b="0" dirty="0">
                <a:effectLst/>
              </a:rPr>
              <a:t>      { width=a; height=b; }</a:t>
            </a:r>
          </a:p>
          <a:p>
            <a:r>
              <a:rPr lang="en-US" altLang="zh-CN" sz="1600" b="0" dirty="0">
                <a:effectLst/>
              </a:rPr>
              <a:t>    int area()</a:t>
            </a:r>
          </a:p>
          <a:p>
            <a:r>
              <a:rPr lang="en-US" altLang="zh-CN" sz="1600" b="0" dirty="0">
                <a:effectLst/>
              </a:rPr>
              <a:t>    { return 0;}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endParaRPr lang="en-US" altLang="zh-CN" sz="1600" b="0" dirty="0"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56442" y="2190413"/>
            <a:ext cx="3080066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Rectangle: public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int area()</a:t>
            </a:r>
          </a:p>
          <a:p>
            <a:r>
              <a:rPr lang="en-US" altLang="zh-CN" sz="1600" b="0" dirty="0">
                <a:effectLst/>
              </a:rPr>
              <a:t>      { return width * height;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Triangle: public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int area()</a:t>
            </a:r>
          </a:p>
          <a:p>
            <a:r>
              <a:rPr lang="en-US" altLang="zh-CN" sz="1600" b="0" dirty="0">
                <a:effectLst/>
              </a:rPr>
              <a:t>      { return width*height/2;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endParaRPr lang="en-US" altLang="zh-CN" sz="1600" b="0" dirty="0">
              <a:effectLst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55345" y="2003401"/>
            <a:ext cx="3325091" cy="403187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int main ()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Rectangle </a:t>
            </a:r>
            <a:r>
              <a:rPr lang="en-US" altLang="zh-CN" sz="1600" b="0" dirty="0" err="1">
                <a:effectLst/>
              </a:rPr>
              <a:t>rect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Triangle </a:t>
            </a:r>
            <a:r>
              <a:rPr lang="en-US" altLang="zh-CN" sz="1600" b="0" dirty="0" err="1">
                <a:effectLst/>
              </a:rPr>
              <a:t>trgl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Polygon * ppoly1 = &amp;</a:t>
            </a:r>
            <a:r>
              <a:rPr lang="en-US" altLang="zh-CN" sz="1600" b="0" dirty="0" err="1">
                <a:effectLst/>
              </a:rPr>
              <a:t>rect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Polygon * ppoly2 = &amp;</a:t>
            </a:r>
            <a:r>
              <a:rPr lang="en-US" altLang="zh-CN" sz="1600" b="0" dirty="0" err="1">
                <a:effectLst/>
              </a:rPr>
              <a:t>trgl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ppoly1-&gt;</a:t>
            </a:r>
            <a:r>
              <a:rPr lang="en-US" altLang="zh-CN" sz="1600" b="0" dirty="0" err="1">
                <a:effectLst/>
              </a:rPr>
              <a:t>set_values</a:t>
            </a:r>
            <a:r>
              <a:rPr lang="en-US" altLang="zh-CN" sz="1600" b="0" dirty="0">
                <a:effectLst/>
              </a:rPr>
              <a:t> (4,5);</a:t>
            </a:r>
          </a:p>
          <a:p>
            <a:r>
              <a:rPr lang="en-US" altLang="zh-CN" sz="1600" b="0" dirty="0">
                <a:effectLst/>
              </a:rPr>
              <a:t>  ppoly2-&gt;</a:t>
            </a:r>
            <a:r>
              <a:rPr lang="en-US" altLang="zh-CN" sz="1600" b="0" dirty="0" err="1">
                <a:effectLst/>
              </a:rPr>
              <a:t>set_values</a:t>
            </a:r>
            <a:r>
              <a:rPr lang="en-US" altLang="zh-CN" sz="1600" b="0" dirty="0">
                <a:effectLst/>
              </a:rPr>
              <a:t> (2,5);</a:t>
            </a:r>
          </a:p>
          <a:p>
            <a:endParaRPr lang="en-US" altLang="zh-CN" sz="1600" b="0" dirty="0">
              <a:effectLst/>
            </a:endParaRPr>
          </a:p>
          <a:p>
            <a:r>
              <a:rPr lang="en-US" altLang="zh-CN" sz="1600" b="0" dirty="0">
                <a:effectLst/>
              </a:rPr>
              <a:t> 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</a:t>
            </a:r>
            <a:r>
              <a:rPr lang="en-US" altLang="zh-CN" sz="1600" b="0" dirty="0" err="1">
                <a:effectLst/>
              </a:rPr>
              <a:t>rect.area</a:t>
            </a:r>
            <a:r>
              <a:rPr lang="en-US" altLang="zh-CN" sz="1600" b="0" dirty="0">
                <a:effectLst/>
              </a:rPr>
              <a:t>()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</a:t>
            </a:r>
            <a:r>
              <a:rPr lang="en-US" altLang="zh-CN" sz="1600" b="0" dirty="0" err="1">
                <a:effectLst/>
              </a:rPr>
              <a:t>trgl.area</a:t>
            </a:r>
            <a:r>
              <a:rPr lang="en-US" altLang="zh-CN" sz="1600" b="0" dirty="0">
                <a:effectLst/>
              </a:rPr>
              <a:t>()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ppoly1-&gt;area()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ppoly2-&gt;area() &lt;&lt; </a:t>
            </a:r>
            <a:r>
              <a:rPr lang="en-US" altLang="zh-CN" sz="1600" b="0" dirty="0" err="1">
                <a:effectLst/>
              </a:rPr>
              <a:t>endl</a:t>
            </a:r>
            <a:r>
              <a:rPr lang="en-US" altLang="zh-CN" sz="1600" b="0" dirty="0">
                <a:effectLst/>
              </a:rPr>
              <a:t>;</a:t>
            </a:r>
          </a:p>
          <a:p>
            <a:r>
              <a:rPr lang="en-US" altLang="zh-CN" sz="1600" b="0" dirty="0">
                <a:effectLst/>
              </a:rPr>
              <a:t>  return 0;</a:t>
            </a:r>
          </a:p>
          <a:p>
            <a:r>
              <a:rPr lang="en-US" altLang="zh-CN" sz="1600" b="0" dirty="0">
                <a:effectLst/>
              </a:rPr>
              <a:t>}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3243" y="1204773"/>
            <a:ext cx="11505513" cy="833631"/>
          </a:xfrm>
        </p:spPr>
        <p:txBody>
          <a:bodyPr>
            <a:normAutofit/>
          </a:bodyPr>
          <a:lstStyle/>
          <a:p>
            <a:pPr marL="127000" lvl="1" indent="0">
              <a:spcBef>
                <a:spcPts val="0"/>
              </a:spcBef>
              <a:buSzPct val="68000"/>
              <a:buNone/>
            </a:pPr>
            <a:r>
              <a:rPr lang="en-US" sz="2500" dirty="0"/>
              <a:t>3. </a:t>
            </a:r>
            <a:r>
              <a:rPr lang="en-US" altLang="zh-CN" sz="2500" dirty="0"/>
              <a:t>Run the following program, and explain the result to SA. Is there any problem in the program?</a:t>
            </a:r>
            <a:endParaRPr lang="en-US" sz="2500" dirty="0"/>
          </a:p>
        </p:txBody>
      </p:sp>
      <p:sp>
        <p:nvSpPr>
          <p:cNvPr id="4" name="文本框 3"/>
          <p:cNvSpPr txBox="1"/>
          <p:nvPr/>
        </p:nvSpPr>
        <p:spPr>
          <a:xfrm>
            <a:off x="334757" y="2145325"/>
            <a:ext cx="4100946" cy="37856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effectLst/>
              </a:rPr>
              <a:t>// dynamic allocation and polymorphism</a:t>
            </a:r>
          </a:p>
          <a:p>
            <a:r>
              <a:rPr lang="en-US" altLang="zh-CN" sz="1600" b="0" dirty="0">
                <a:effectLst/>
              </a:rPr>
              <a:t>#include &lt;iostream&gt;</a:t>
            </a:r>
          </a:p>
          <a:p>
            <a:r>
              <a:rPr lang="en-US" altLang="zh-CN" sz="1600" b="0" dirty="0">
                <a:effectLst/>
              </a:rPr>
              <a:t>using namespace std;</a:t>
            </a:r>
          </a:p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protected:</a:t>
            </a:r>
          </a:p>
          <a:p>
            <a:r>
              <a:rPr lang="en-US" altLang="zh-CN" sz="1600" b="0" dirty="0">
                <a:effectLst/>
              </a:rPr>
              <a:t>    int width, height;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Polygon (int a, int b) : width(a), height(b) {}</a:t>
            </a:r>
          </a:p>
          <a:p>
            <a:r>
              <a:rPr lang="en-US" altLang="zh-CN" sz="1600" b="0" dirty="0">
                <a:effectLst/>
              </a:rPr>
              <a:t>    virtual int area (void) =0;</a:t>
            </a:r>
          </a:p>
          <a:p>
            <a:r>
              <a:rPr lang="en-US" altLang="zh-CN" sz="1600" b="0" dirty="0">
                <a:effectLst/>
              </a:rPr>
              <a:t>    void </a:t>
            </a:r>
            <a:r>
              <a:rPr lang="en-US" altLang="zh-CN" sz="1600" b="0" dirty="0" err="1">
                <a:effectLst/>
              </a:rPr>
              <a:t>printarea</a:t>
            </a:r>
            <a:r>
              <a:rPr lang="en-US" altLang="zh-CN" sz="1600" b="0" dirty="0">
                <a:effectLst/>
              </a:rPr>
              <a:t>()</a:t>
            </a:r>
          </a:p>
          <a:p>
            <a:r>
              <a:rPr lang="en-US" altLang="zh-CN" sz="1600" b="0" dirty="0">
                <a:effectLst/>
              </a:rPr>
              <a:t>      { </a:t>
            </a:r>
            <a:r>
              <a:rPr lang="en-US" altLang="zh-CN" sz="1600" b="0" dirty="0" err="1">
                <a:effectLst/>
              </a:rPr>
              <a:t>cout</a:t>
            </a:r>
            <a:r>
              <a:rPr lang="en-US" altLang="zh-CN" sz="1600" b="0" dirty="0">
                <a:effectLst/>
              </a:rPr>
              <a:t> &lt;&lt; this-&gt;area() &lt;&lt; '\n';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endParaRPr lang="en-US" altLang="zh-CN" sz="1600" b="0" dirty="0"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1999" y="1894790"/>
            <a:ext cx="3602182" cy="452431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Rectangle: public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Rectangle(int </a:t>
            </a:r>
            <a:r>
              <a:rPr lang="en-US" altLang="zh-CN" sz="1600" b="0" dirty="0" err="1">
                <a:effectLst/>
              </a:rPr>
              <a:t>a,int</a:t>
            </a:r>
            <a:r>
              <a:rPr lang="en-US" altLang="zh-CN" sz="1600" b="0" dirty="0">
                <a:effectLst/>
              </a:rPr>
              <a:t> b) : Polygon(</a:t>
            </a:r>
            <a:r>
              <a:rPr lang="en-US" altLang="zh-CN" sz="1600" b="0" dirty="0" err="1">
                <a:effectLst/>
              </a:rPr>
              <a:t>a,b</a:t>
            </a:r>
            <a:r>
              <a:rPr lang="en-US" altLang="zh-CN" sz="1600" b="0" dirty="0">
                <a:effectLst/>
              </a:rPr>
              <a:t>) {}</a:t>
            </a:r>
          </a:p>
          <a:p>
            <a:r>
              <a:rPr lang="en-US" altLang="zh-CN" sz="1600" b="0" dirty="0">
                <a:effectLst/>
              </a:rPr>
              <a:t>    int area()</a:t>
            </a:r>
          </a:p>
          <a:p>
            <a:r>
              <a:rPr lang="en-US" altLang="zh-CN" sz="1600" b="0" dirty="0">
                <a:effectLst/>
              </a:rPr>
              <a:t>      { return width*height;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class Triangle: public Polygon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public:</a:t>
            </a:r>
          </a:p>
          <a:p>
            <a:r>
              <a:rPr lang="en-US" altLang="zh-CN" sz="1600" b="0" dirty="0">
                <a:effectLst/>
              </a:rPr>
              <a:t>    Triangle(int </a:t>
            </a:r>
            <a:r>
              <a:rPr lang="en-US" altLang="zh-CN" sz="1600" b="0" dirty="0" err="1">
                <a:effectLst/>
              </a:rPr>
              <a:t>a,int</a:t>
            </a:r>
            <a:r>
              <a:rPr lang="en-US" altLang="zh-CN" sz="1600" b="0" dirty="0">
                <a:effectLst/>
              </a:rPr>
              <a:t> b) : Polygon(</a:t>
            </a:r>
            <a:r>
              <a:rPr lang="en-US" altLang="zh-CN" sz="1600" b="0" dirty="0" err="1">
                <a:effectLst/>
              </a:rPr>
              <a:t>a,b</a:t>
            </a:r>
            <a:r>
              <a:rPr lang="en-US" altLang="zh-CN" sz="1600" b="0" dirty="0">
                <a:effectLst/>
              </a:rPr>
              <a:t>) {}</a:t>
            </a:r>
          </a:p>
          <a:p>
            <a:r>
              <a:rPr lang="en-US" altLang="zh-CN" sz="1600" b="0" dirty="0">
                <a:effectLst/>
              </a:rPr>
              <a:t>    int area()</a:t>
            </a:r>
          </a:p>
          <a:p>
            <a:r>
              <a:rPr lang="en-US" altLang="zh-CN" sz="1600" b="0" dirty="0">
                <a:effectLst/>
              </a:rPr>
              <a:t>      { return width*height/2; }</a:t>
            </a:r>
          </a:p>
          <a:p>
            <a:r>
              <a:rPr lang="en-US" altLang="zh-CN" sz="1600" b="0" dirty="0">
                <a:effectLst/>
              </a:rPr>
              <a:t>};</a:t>
            </a:r>
          </a:p>
          <a:p>
            <a:br>
              <a:rPr lang="en-US" altLang="zh-CN" sz="1600" b="0" dirty="0">
                <a:effectLst/>
              </a:rPr>
            </a:br>
            <a:endParaRPr lang="en-US" altLang="zh-CN" sz="1600" b="0" dirty="0">
              <a:effectLst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17567" y="2265052"/>
            <a:ext cx="3546764" cy="255454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altLang="zh-CN" sz="1600" b="0" dirty="0">
                <a:effectLst/>
              </a:rPr>
            </a:br>
            <a:r>
              <a:rPr lang="en-US" altLang="zh-CN" sz="1600" b="0" dirty="0">
                <a:effectLst/>
              </a:rPr>
              <a:t>int main () </a:t>
            </a:r>
          </a:p>
          <a:p>
            <a:r>
              <a:rPr lang="en-US" altLang="zh-CN" sz="1600" b="0" dirty="0">
                <a:effectLst/>
              </a:rPr>
              <a:t>{</a:t>
            </a:r>
          </a:p>
          <a:p>
            <a:r>
              <a:rPr lang="en-US" altLang="zh-CN" sz="1600" b="0" dirty="0">
                <a:effectLst/>
              </a:rPr>
              <a:t>  Polygon * </a:t>
            </a:r>
            <a:r>
              <a:rPr lang="en-US" altLang="zh-CN" sz="1600" b="0" dirty="0" err="1">
                <a:effectLst/>
              </a:rPr>
              <a:t>ppoly</a:t>
            </a:r>
            <a:r>
              <a:rPr lang="en-US" altLang="zh-CN" sz="1600" b="0" dirty="0">
                <a:effectLst/>
              </a:rPr>
              <a:t> = new Rectangle (4,5);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ppoly</a:t>
            </a:r>
            <a:r>
              <a:rPr lang="en-US" altLang="zh-CN" sz="1600" b="0" dirty="0">
                <a:effectLst/>
              </a:rPr>
              <a:t>-&gt;</a:t>
            </a:r>
            <a:r>
              <a:rPr lang="en-US" altLang="zh-CN" sz="1600" b="0" dirty="0" err="1">
                <a:effectLst/>
              </a:rPr>
              <a:t>printarea</a:t>
            </a:r>
            <a:r>
              <a:rPr lang="en-US" altLang="zh-CN" sz="1600" b="0" dirty="0">
                <a:effectLst/>
              </a:rPr>
              <a:t>();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ppoly</a:t>
            </a:r>
            <a:r>
              <a:rPr lang="en-US" altLang="zh-CN" sz="1600" b="0" dirty="0">
                <a:effectLst/>
              </a:rPr>
              <a:t> = new Triangle (2,5);</a:t>
            </a:r>
          </a:p>
          <a:p>
            <a:r>
              <a:rPr lang="en-US" altLang="zh-CN" sz="1600" b="0" dirty="0">
                <a:effectLst/>
              </a:rPr>
              <a:t>  </a:t>
            </a:r>
            <a:r>
              <a:rPr lang="en-US" altLang="zh-CN" sz="1600" b="0" dirty="0" err="1">
                <a:effectLst/>
              </a:rPr>
              <a:t>ppoly</a:t>
            </a:r>
            <a:r>
              <a:rPr lang="en-US" altLang="zh-CN" sz="1600" b="0" dirty="0">
                <a:effectLst/>
              </a:rPr>
              <a:t>-&gt;</a:t>
            </a:r>
            <a:r>
              <a:rPr lang="en-US" altLang="zh-CN" sz="1600" b="0" dirty="0" err="1">
                <a:effectLst/>
              </a:rPr>
              <a:t>printarea</a:t>
            </a:r>
            <a:r>
              <a:rPr lang="en-US" altLang="zh-CN" sz="1600" b="0" dirty="0">
                <a:effectLst/>
              </a:rPr>
              <a:t>();</a:t>
            </a:r>
          </a:p>
          <a:p>
            <a:endParaRPr lang="en-US" altLang="zh-CN" sz="1600" b="0" dirty="0">
              <a:effectLst/>
            </a:endParaRPr>
          </a:p>
          <a:p>
            <a:r>
              <a:rPr lang="en-US" altLang="zh-CN" sz="1600" b="0" dirty="0">
                <a:effectLst/>
              </a:rPr>
              <a:t>  return 0;</a:t>
            </a:r>
          </a:p>
          <a:p>
            <a:r>
              <a:rPr lang="en-US" altLang="zh-CN" sz="1600" b="0" dirty="0">
                <a:effectLst/>
              </a:rPr>
              <a:t>}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682</Words>
  <Application>Microsoft Macintosh PowerPoint</Application>
  <PresentationFormat>宽屏</PresentationFormat>
  <Paragraphs>137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Arial</vt:lpstr>
      <vt:lpstr>Calibri</vt:lpstr>
      <vt:lpstr>Franklin Gothic Demi</vt:lpstr>
      <vt:lpstr>Franklin Gothic Medium</vt:lpstr>
      <vt:lpstr>Wingdings</vt:lpstr>
      <vt:lpstr>Office 主题</vt:lpstr>
      <vt:lpstr>Advanced Programming</vt:lpstr>
      <vt:lpstr>Exercise:</vt:lpstr>
      <vt:lpstr>Exercise:</vt:lpstr>
      <vt:lpstr>Exercise: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1019</cp:revision>
  <dcterms:created xsi:type="dcterms:W3CDTF">2020-09-05T08:11:00Z</dcterms:created>
  <dcterms:modified xsi:type="dcterms:W3CDTF">2026-05-11T14:39:30Z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2052-12.1.0.20784</vt:lpwstr>
  </property>
</Properties>
</file>