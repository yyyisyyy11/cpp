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631" r:id="rId3"/>
    <p:sldId id="633" r:id="rId4"/>
    <p:sldId id="634" r:id="rId5"/>
    <p:sldId id="635" r:id="rId6"/>
    <p:sldId id="639" r:id="rId7"/>
    <p:sldId id="636" r:id="rId8"/>
    <p:sldId id="641" r:id="rId9"/>
    <p:sldId id="642" r:id="rId10"/>
    <p:sldId id="643" r:id="rId11"/>
    <p:sldId id="644" r:id="rId12"/>
    <p:sldId id="645" r:id="rId13"/>
    <p:sldId id="646" r:id="rId14"/>
    <p:sldId id="647" r:id="rId15"/>
    <p:sldId id="657" r:id="rId16"/>
    <p:sldId id="648" r:id="rId17"/>
    <p:sldId id="650" r:id="rId18"/>
    <p:sldId id="649" r:id="rId19"/>
    <p:sldId id="651" r:id="rId20"/>
    <p:sldId id="652" r:id="rId21"/>
    <p:sldId id="653" r:id="rId22"/>
    <p:sldId id="654" r:id="rId23"/>
    <p:sldId id="655" r:id="rId24"/>
    <p:sldId id="65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752" autoAdjust="0"/>
    <p:restoredTop sz="94660"/>
  </p:normalViewPr>
  <p:slideViewPr>
    <p:cSldViewPr snapToGrid="0">
      <p:cViewPr varScale="1">
        <p:scale>
          <a:sx n="87" d="100"/>
          <a:sy n="87" d="100"/>
        </p:scale>
        <p:origin x="22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F3F22-B4BB-3F48-9180-464A9F2D66D1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692CB-2397-CF44-9044-134362C699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33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692CB-2397-CF44-9044-134362C6998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51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692CB-2397-CF44-9044-134362C69983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1930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9F6358-1E5B-E540-B1EC-784FFD4F9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65507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B810D5-562C-6D40-A798-62FEF5ACF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BC21BE-914F-984C-819E-13DA00BEE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EF34E2-55C5-FE4B-9D4B-1C371C023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DD9DA-D04B-234F-AF7F-359B1655B7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7BA66-27EF-F848-B5D4-C6E63ED69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94918-5C39-5840-99AC-03CB479DEC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1DD87C-9BE8-504F-A482-28FE7FDAB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F3E64-915C-7F40-AA27-6031D114BF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6E3FFC-E533-B542-B981-71BF4DFC5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1982"/>
            <a:ext cx="1183341" cy="41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26916" y="6356350"/>
            <a:ext cx="2154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</a:rPr>
              <a:t>Advanced 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</a:rPr>
              <a:t>CS205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</a:rPr>
              <a:t>)</a:t>
            </a: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3B8C9D1-C1A3-F243-B2E3-22DC8F956D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zh-CN" dirty="0"/>
              <a:t>Derived Classes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5DEA0347-F152-0244-B93E-28C5E1DDBE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061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EF7495-0B0C-A946-BE0B-0258DF1C5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Inheritance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898390-39E8-DF41-97D8-8B45474B5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2269245"/>
          </a:xfrm>
        </p:spPr>
        <p:txBody>
          <a:bodyPr/>
          <a:lstStyle/>
          <a:p>
            <a:r>
              <a:rPr kumimoji="1" lang="en" altLang="zh-CN" dirty="0"/>
              <a:t> Inherit members (attributes and functions) from one class</a:t>
            </a:r>
          </a:p>
          <a:p>
            <a:pPr lvl="1"/>
            <a:r>
              <a:rPr kumimoji="1" lang="en" altLang="zh-CN" b="1" dirty="0"/>
              <a:t>Base class</a:t>
            </a:r>
            <a:r>
              <a:rPr kumimoji="1" lang="en" altLang="zh-CN" dirty="0"/>
              <a:t> (parent)</a:t>
            </a:r>
          </a:p>
          <a:p>
            <a:pPr lvl="1"/>
            <a:r>
              <a:rPr kumimoji="1" lang="en" altLang="zh-CN" b="1" dirty="0"/>
              <a:t>Derived class</a:t>
            </a:r>
            <a:r>
              <a:rPr kumimoji="1" lang="en" altLang="zh-CN" dirty="0"/>
              <a:t> (child)</a:t>
            </a:r>
          </a:p>
          <a:p>
            <a:r>
              <a:rPr kumimoji="1" lang="en-US" altLang="zh-CN" dirty="0"/>
              <a:t>C++ supports multiple inheritance and multilevel inheritance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853856-4E90-4149-B6C7-B1C882BD5DE2}"/>
              </a:ext>
            </a:extLst>
          </p:cNvPr>
          <p:cNvSpPr/>
          <p:nvPr/>
        </p:nvSpPr>
        <p:spPr>
          <a:xfrm>
            <a:off x="1376479" y="359624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Derived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public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05FE62-FEA0-B040-90A1-CC6D1D14E1DA}"/>
              </a:ext>
            </a:extLst>
          </p:cNvPr>
          <p:cNvSpPr/>
          <p:nvPr/>
        </p:nvSpPr>
        <p:spPr>
          <a:xfrm>
            <a:off x="4424479" y="3225218"/>
            <a:ext cx="62797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Derived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public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Base1,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public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Base2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...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2333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7B59F-72AF-4B40-BECB-32152E22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Constructors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C3BA6D-9444-7E46-8140-F06C3FF5D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 instantiate a derived class object</a:t>
            </a:r>
          </a:p>
          <a:p>
            <a:pPr lvl="1"/>
            <a:r>
              <a:rPr kumimoji="1" lang="en-US" altLang="zh-CN" dirty="0"/>
              <a:t>Allocate memory</a:t>
            </a:r>
          </a:p>
          <a:p>
            <a:pPr lvl="1"/>
            <a:r>
              <a:rPr kumimoji="1" lang="en-US" altLang="zh-CN" dirty="0"/>
              <a:t>Derived constructor is invoked</a:t>
            </a:r>
          </a:p>
          <a:p>
            <a:pPr lvl="2"/>
            <a:r>
              <a:rPr kumimoji="1" lang="en-US" altLang="zh-CN" dirty="0"/>
              <a:t>Base object is constructed by a base constructor</a:t>
            </a:r>
          </a:p>
          <a:p>
            <a:pPr lvl="2"/>
            <a:r>
              <a:rPr kumimoji="1" lang="en-US" altLang="zh-CN" dirty="0"/>
              <a:t>Member initializer list initializes members</a:t>
            </a:r>
          </a:p>
          <a:p>
            <a:pPr lvl="2"/>
            <a:r>
              <a:rPr kumimoji="1" lang="en-US" altLang="zh-CN" dirty="0"/>
              <a:t>To execute the body of the derived constructor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7CF5A8-4767-9441-BEA8-9F3360EC3D0C}"/>
              </a:ext>
            </a:extLst>
          </p:cNvPr>
          <p:cNvSpPr/>
          <p:nvPr/>
        </p:nvSpPr>
        <p:spPr>
          <a:xfrm>
            <a:off x="1376479" y="3751979"/>
            <a:ext cx="71038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Derived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public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Derived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-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-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...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770174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66AFC-2639-FC4B-9BCF-F0646524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Destructors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C64A45-5334-424C-9D40-623A281C2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destructor of the derived class is invoked first,</a:t>
            </a:r>
          </a:p>
          <a:p>
            <a:r>
              <a:rPr kumimoji="1" lang="en-US" altLang="zh-CN" dirty="0"/>
              <a:t>Then the destructor of the base class.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7736E6-C991-544F-9B74-B80750B76FB7}"/>
              </a:ext>
            </a:extLst>
          </p:cNvPr>
          <p:cNvSpPr/>
          <p:nvPr/>
        </p:nvSpPr>
        <p:spPr>
          <a:xfrm>
            <a:off x="1206012" y="6488668"/>
            <a:ext cx="1579278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derive.cpp</a:t>
            </a:r>
            <a:endParaRPr lang="zh-CN" altLang="en-US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4052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B9B1328-B39B-D04D-8650-076C707723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b="1" dirty="0"/>
              <a:t>Access Control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C837579-B7F0-9846-9552-7EF0F112EE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53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BE9D0-D2E0-8E4B-99EA-5235E1AB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Member Access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99BD52-73AE-7B44-9697-91C4F7AD2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2487" y="1097852"/>
            <a:ext cx="5550913" cy="4849968"/>
          </a:xfrm>
        </p:spPr>
        <p:txBody>
          <a:bodyPr/>
          <a:lstStyle/>
          <a:p>
            <a:r>
              <a:rPr kumimoji="1" lang="en-US" altLang="zh-CN" dirty="0"/>
              <a:t>Public members</a:t>
            </a:r>
          </a:p>
          <a:p>
            <a:pPr lvl="1"/>
            <a:r>
              <a:rPr kumimoji="1" lang="en-US" altLang="zh-CN" dirty="0"/>
              <a:t>Accessible anywhere</a:t>
            </a:r>
          </a:p>
          <a:p>
            <a:r>
              <a:rPr kumimoji="1" lang="en-US" altLang="zh-CN" dirty="0"/>
              <a:t>Private members</a:t>
            </a:r>
          </a:p>
          <a:p>
            <a:pPr lvl="1"/>
            <a:r>
              <a:rPr kumimoji="1" lang="en" altLang="zh-CN" dirty="0"/>
              <a:t>Only accessible to the members </a:t>
            </a:r>
            <a:br>
              <a:rPr kumimoji="1" lang="en" altLang="zh-CN" dirty="0"/>
            </a:br>
            <a:r>
              <a:rPr kumimoji="1" lang="en" altLang="zh-CN" dirty="0"/>
              <a:t>and friends of that class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FC6D2B-086C-AF41-8F19-A5A0A5CCA22D}"/>
              </a:ext>
            </a:extLst>
          </p:cNvPr>
          <p:cNvSpPr/>
          <p:nvPr/>
        </p:nvSpPr>
        <p:spPr>
          <a:xfrm>
            <a:off x="683947" y="2712787"/>
            <a:ext cx="796309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Person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private: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private member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this-&gt;n is accessible 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Person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 :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{}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other.n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is accessible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Person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Person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other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: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other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{}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this-&gt;n is accessible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set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this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;}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this-&gt;n and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other.n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are accessible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set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Person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other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this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other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;}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4284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0FB5A-6A2C-524A-A84B-D61166D5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Member Access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D149C4-6803-2F46-BF7E-96D7EAD9A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30" y="1661896"/>
            <a:ext cx="9050538" cy="149010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Protected members</a:t>
            </a:r>
          </a:p>
          <a:p>
            <a:pPr lvl="1"/>
            <a:r>
              <a:rPr kumimoji="1" lang="en-US" altLang="zh-CN" dirty="0"/>
              <a:t>Accessible to the members and friends of that class</a:t>
            </a:r>
          </a:p>
          <a:p>
            <a:pPr lvl="1"/>
            <a:r>
              <a:rPr kumimoji="1" lang="en-US" altLang="zh-CN" dirty="0"/>
              <a:t>Accessible to the members and friends of the </a:t>
            </a:r>
            <a:r>
              <a:rPr kumimoji="1" lang="en-US" altLang="zh-CN" dirty="0">
                <a:solidFill>
                  <a:srgbClr val="FF0000"/>
                </a:solidFill>
              </a:rPr>
              <a:t>derived</a:t>
            </a:r>
            <a:r>
              <a:rPr kumimoji="1" lang="en-US" altLang="zh-CN" dirty="0"/>
              <a:t> class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3A10D9-2F5C-8840-A2DA-BF03A880C8F3}"/>
              </a:ext>
            </a:extLst>
          </p:cNvPr>
          <p:cNvSpPr/>
          <p:nvPr/>
        </p:nvSpPr>
        <p:spPr>
          <a:xfrm>
            <a:off x="124330" y="3152000"/>
            <a:ext cx="3670495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protected: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private: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Okay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Okay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4610F0-EEF3-F843-969C-DFC779742119}"/>
              </a:ext>
            </a:extLst>
          </p:cNvPr>
          <p:cNvSpPr/>
          <p:nvPr/>
        </p:nvSpPr>
        <p:spPr>
          <a:xfrm>
            <a:off x="3947400" y="3163087"/>
            <a:ext cx="5196600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Derived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public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Derived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//Okay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this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//Okay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    //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b.n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++; //Error. 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d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//Okay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666212-6005-0544-A996-8C6A15FB4EBF}"/>
              </a:ext>
            </a:extLst>
          </p:cNvPr>
          <p:cNvSpPr/>
          <p:nvPr/>
        </p:nvSpPr>
        <p:spPr>
          <a:xfrm>
            <a:off x="6096000" y="0"/>
            <a:ext cx="6096000" cy="17543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a non-member non-friend function 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compare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Derived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b.n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++; // Error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d.n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++; // Error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190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319B9-D1F3-ED43-8841-B8BFC182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 Public Inheritance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017963-9125-8845-97B0-7C842B771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995"/>
            <a:ext cx="6488290" cy="4849968"/>
          </a:xfrm>
        </p:spPr>
        <p:txBody>
          <a:bodyPr/>
          <a:lstStyle/>
          <a:p>
            <a:r>
              <a:rPr kumimoji="1" lang="en-US" altLang="zh-CN" dirty="0"/>
              <a:t>Public members of the base class</a:t>
            </a:r>
          </a:p>
          <a:p>
            <a:pPr lvl="1"/>
            <a:r>
              <a:rPr kumimoji="1" lang="en-US" altLang="zh-CN" dirty="0"/>
              <a:t>Still be public in the derived class</a:t>
            </a:r>
          </a:p>
          <a:p>
            <a:pPr lvl="1"/>
            <a:r>
              <a:rPr kumimoji="1" lang="en-US" altLang="zh-CN" dirty="0"/>
              <a:t>Accessible anywhere</a:t>
            </a:r>
          </a:p>
          <a:p>
            <a:r>
              <a:rPr kumimoji="1" lang="en-US" altLang="zh-CN" dirty="0"/>
              <a:t>Protected members of the base class</a:t>
            </a:r>
          </a:p>
          <a:p>
            <a:pPr lvl="1"/>
            <a:r>
              <a:rPr kumimoji="1" lang="en-US" altLang="zh-CN" dirty="0"/>
              <a:t>Still be protected in the derived class</a:t>
            </a:r>
          </a:p>
          <a:p>
            <a:pPr lvl="1"/>
            <a:r>
              <a:rPr kumimoji="1" lang="en-US" altLang="zh-CN" dirty="0"/>
              <a:t>Accessible in the derived class only</a:t>
            </a:r>
          </a:p>
          <a:p>
            <a:r>
              <a:rPr kumimoji="1" lang="en-US" altLang="zh-CN" dirty="0"/>
              <a:t>Private members of the base class</a:t>
            </a:r>
          </a:p>
          <a:p>
            <a:pPr lvl="1"/>
            <a:r>
              <a:rPr kumimoji="1" lang="en-US" altLang="zh-CN" dirty="0"/>
              <a:t>Not accessible in the derived class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73C670-35FB-70FF-DCFD-BA1386327250}"/>
              </a:ext>
            </a:extLst>
          </p:cNvPr>
          <p:cNvSpPr txBox="1"/>
          <p:nvPr/>
        </p:nvSpPr>
        <p:spPr>
          <a:xfrm>
            <a:off x="6990449" y="2767280"/>
            <a:ext cx="46312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class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Derived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: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public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Base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  <a:ea typeface="宋体" panose="02010600030101010101" pitchFamily="2" charset="-122"/>
              </a:rPr>
              <a:t>    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...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9AD49F6D-1D10-C50E-FDBA-1D255FE0C035}"/>
              </a:ext>
            </a:extLst>
          </p:cNvPr>
          <p:cNvSpPr/>
          <p:nvPr/>
        </p:nvSpPr>
        <p:spPr>
          <a:xfrm rot="2959821">
            <a:off x="8675780" y="2015058"/>
            <a:ext cx="1260604" cy="563602"/>
          </a:xfrm>
          <a:prstGeom prst="rightArrow">
            <a:avLst>
              <a:gd name="adj1" fmla="val 50000"/>
              <a:gd name="adj2" fmla="val 11129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29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319B9-D1F3-ED43-8841-B8BFC182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 Protected Inheritance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017963-9125-8845-97B0-7C842B771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b="1" dirty="0"/>
              <a:t>Public</a:t>
            </a:r>
            <a:r>
              <a:rPr kumimoji="1" lang="en-US" altLang="zh-CN" dirty="0"/>
              <a:t> members and </a:t>
            </a:r>
            <a:r>
              <a:rPr kumimoji="1" lang="en-US" altLang="zh-CN" b="1" dirty="0"/>
              <a:t>protected</a:t>
            </a:r>
            <a:r>
              <a:rPr kumimoji="1" lang="en-US" altLang="zh-CN" dirty="0"/>
              <a:t> members of the base class</a:t>
            </a:r>
          </a:p>
          <a:p>
            <a:pPr lvl="1"/>
            <a:r>
              <a:rPr kumimoji="1" lang="en-US" altLang="zh-CN" dirty="0"/>
              <a:t>Be </a:t>
            </a:r>
            <a:r>
              <a:rPr kumimoji="1" lang="en-US" altLang="zh-CN" b="1" dirty="0"/>
              <a:t>protected</a:t>
            </a:r>
            <a:r>
              <a:rPr kumimoji="1" lang="en-US" altLang="zh-CN" dirty="0"/>
              <a:t> in the derived class</a:t>
            </a:r>
          </a:p>
          <a:p>
            <a:pPr lvl="1"/>
            <a:r>
              <a:rPr kumimoji="1" lang="en-US" altLang="zh-CN" dirty="0"/>
              <a:t>Accessible in the derived class only</a:t>
            </a:r>
          </a:p>
          <a:p>
            <a:r>
              <a:rPr kumimoji="1" lang="en-US" altLang="zh-CN" dirty="0"/>
              <a:t>Private members of the base class</a:t>
            </a:r>
          </a:p>
          <a:p>
            <a:pPr lvl="1"/>
            <a:r>
              <a:rPr kumimoji="1" lang="en-US" altLang="zh-CN" dirty="0"/>
              <a:t>Not accessible in the derived class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F35A0C-4D2E-0405-8E5A-4BE8F11A8C05}"/>
              </a:ext>
            </a:extLst>
          </p:cNvPr>
          <p:cNvSpPr txBox="1"/>
          <p:nvPr/>
        </p:nvSpPr>
        <p:spPr>
          <a:xfrm>
            <a:off x="6990449" y="2767280"/>
            <a:ext cx="46312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class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Derived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: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protect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Base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  <a:ea typeface="宋体" panose="02010600030101010101" pitchFamily="2" charset="-122"/>
              </a:rPr>
              <a:t>    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...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5" name="右箭头 4">
            <a:extLst>
              <a:ext uri="{FF2B5EF4-FFF2-40B4-BE49-F238E27FC236}">
                <a16:creationId xmlns:a16="http://schemas.microsoft.com/office/drawing/2014/main" id="{8434E380-03E9-143B-51B7-ABDD53F7DF8F}"/>
              </a:ext>
            </a:extLst>
          </p:cNvPr>
          <p:cNvSpPr/>
          <p:nvPr/>
        </p:nvSpPr>
        <p:spPr>
          <a:xfrm rot="2959821">
            <a:off x="8675780" y="2015058"/>
            <a:ext cx="1260604" cy="563602"/>
          </a:xfrm>
          <a:prstGeom prst="rightArrow">
            <a:avLst>
              <a:gd name="adj1" fmla="val 50000"/>
              <a:gd name="adj2" fmla="val 11129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779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319B9-D1F3-ED43-8841-B8BFC182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 Private Inheritance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017963-9125-8845-97B0-7C842B771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b="1" dirty="0"/>
              <a:t>Public</a:t>
            </a:r>
            <a:r>
              <a:rPr kumimoji="1" lang="en-US" altLang="zh-CN" dirty="0"/>
              <a:t> members and </a:t>
            </a:r>
            <a:r>
              <a:rPr kumimoji="1" lang="en-US" altLang="zh-CN" b="1" dirty="0"/>
              <a:t>protected</a:t>
            </a:r>
            <a:r>
              <a:rPr kumimoji="1" lang="en-US" altLang="zh-CN" dirty="0"/>
              <a:t> members of the base class</a:t>
            </a:r>
          </a:p>
          <a:p>
            <a:pPr lvl="1"/>
            <a:r>
              <a:rPr kumimoji="1" lang="en-US" altLang="zh-CN" dirty="0"/>
              <a:t>Be </a:t>
            </a:r>
            <a:r>
              <a:rPr kumimoji="1" lang="en-US" altLang="zh-CN" b="1" dirty="0"/>
              <a:t>private</a:t>
            </a:r>
            <a:r>
              <a:rPr kumimoji="1" lang="en-US" altLang="zh-CN" dirty="0"/>
              <a:t> in the derived class</a:t>
            </a:r>
          </a:p>
          <a:p>
            <a:pPr lvl="1"/>
            <a:r>
              <a:rPr kumimoji="1" lang="en-US" altLang="zh-CN" dirty="0"/>
              <a:t>Accessible in the derived class only</a:t>
            </a:r>
          </a:p>
          <a:p>
            <a:r>
              <a:rPr kumimoji="1" lang="en-US" altLang="zh-CN" dirty="0"/>
              <a:t>Private members of the base class</a:t>
            </a:r>
          </a:p>
          <a:p>
            <a:pPr lvl="1"/>
            <a:r>
              <a:rPr kumimoji="1" lang="en-US" altLang="zh-CN" dirty="0"/>
              <a:t>Not accessible in the derived class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C23300-F307-C764-1583-15315AE22767}"/>
              </a:ext>
            </a:extLst>
          </p:cNvPr>
          <p:cNvSpPr txBox="1"/>
          <p:nvPr/>
        </p:nvSpPr>
        <p:spPr>
          <a:xfrm>
            <a:off x="6990449" y="2767280"/>
            <a:ext cx="46312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class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Derived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: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private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Base</a:t>
            </a: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  <a:ea typeface="宋体" panose="02010600030101010101" pitchFamily="2" charset="-122"/>
              </a:rPr>
              <a:t>    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...</a:t>
            </a:r>
            <a:endParaRPr kumimoji="0" lang="e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4342C14E-319F-A098-B966-6C8063E51A7C}"/>
              </a:ext>
            </a:extLst>
          </p:cNvPr>
          <p:cNvSpPr/>
          <p:nvPr/>
        </p:nvSpPr>
        <p:spPr>
          <a:xfrm rot="2959821">
            <a:off x="8675780" y="2015058"/>
            <a:ext cx="1260604" cy="563602"/>
          </a:xfrm>
          <a:prstGeom prst="rightArrow">
            <a:avLst>
              <a:gd name="adj1" fmla="val 50000"/>
              <a:gd name="adj2" fmla="val 11129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80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A1D2F91-8B97-9A41-87FA-C87ADEBDA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Virtual Functions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5A9F924A-BB50-9740-A7B1-0A70BDD5A4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229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F08F6-677A-7B40-A7D4-4E013722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Virtual Functions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A84A18-AA51-934A-93AB-7C31B6AD1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40953"/>
          </a:xfrm>
        </p:spPr>
        <p:txBody>
          <a:bodyPr/>
          <a:lstStyle/>
          <a:p>
            <a:r>
              <a:rPr kumimoji="1" lang="en-US" altLang="zh-CN" dirty="0"/>
              <a:t>Let’s look at the example first, what will be the output?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4B096F-DECE-8843-8B34-9F3B80589FC7}"/>
              </a:ext>
            </a:extLst>
          </p:cNvPr>
          <p:cNvSpPr/>
          <p:nvPr/>
        </p:nvSpPr>
        <p:spPr>
          <a:xfrm>
            <a:off x="1376479" y="1842875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Person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void print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"Name: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public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Person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>
                <a:solidFill>
                  <a:srgbClr val="795E26"/>
                </a:solidFill>
                <a:latin typeface="Menlo" panose="020B0609030804020204" pitchFamily="49" charset="0"/>
              </a:rPr>
              <a:t>print</a:t>
            </a:r>
            <a:r>
              <a:rPr lang="en" altLang="zh-CN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"Name: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name;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". ID: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id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A3289D-864E-4E4C-983D-47C5CBF05500}"/>
              </a:ext>
            </a:extLst>
          </p:cNvPr>
          <p:cNvSpPr/>
          <p:nvPr/>
        </p:nvSpPr>
        <p:spPr>
          <a:xfrm>
            <a:off x="6717104" y="2160662"/>
            <a:ext cx="517497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Person * p =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print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call Person::print()? 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200CAE-FDFE-6E49-8F6D-7979F32A595D}"/>
              </a:ext>
            </a:extLst>
          </p:cNvPr>
          <p:cNvSpPr/>
          <p:nvPr/>
        </p:nvSpPr>
        <p:spPr>
          <a:xfrm>
            <a:off x="1809127" y="6488668"/>
            <a:ext cx="171874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virtual.cpp</a:t>
            </a:r>
            <a:endParaRPr lang="zh-CN" altLang="en-US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2239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B9F43-ADC2-1443-9A2A-F822C1BB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Virtual Functions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961376-8E48-764E-96BF-F35CA6706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But if we define print() function as a virtual function, the output will be different.</a:t>
            </a:r>
          </a:p>
          <a:p>
            <a:r>
              <a:rPr kumimoji="1" lang="en" altLang="zh-CN" b="1" dirty="0"/>
              <a:t>Static</a:t>
            </a:r>
            <a:r>
              <a:rPr kumimoji="1" lang="en" altLang="zh-CN" dirty="0"/>
              <a:t> binding: the compiler decides which function to call</a:t>
            </a:r>
          </a:p>
          <a:p>
            <a:r>
              <a:rPr kumimoji="1" lang="en" altLang="zh-CN" b="1" dirty="0"/>
              <a:t>Dynamic</a:t>
            </a:r>
            <a:r>
              <a:rPr kumimoji="1" lang="en" altLang="zh-CN" dirty="0"/>
              <a:t> binding: the called function is decided at runtime.</a:t>
            </a:r>
          </a:p>
          <a:p>
            <a:endParaRPr kumimoji="1" lang="en" altLang="zh-CN" dirty="0"/>
          </a:p>
          <a:p>
            <a:r>
              <a:rPr kumimoji="1" lang="en" altLang="zh-CN" dirty="0"/>
              <a:t>Keyword virtual makes the function virtual for the base and all derived classes.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3358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7C316-4BF3-544B-86CA-8A48167A7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Virtual Destructors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677DC-9E15-834C-91D7-30070D0C1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19548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If a destructor is not virtual, only the destructor of the base class is executed in the follow examples.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142C62-2A3E-BD4A-AE16-4F7A2C8C16F1}"/>
              </a:ext>
            </a:extLst>
          </p:cNvPr>
          <p:cNvSpPr/>
          <p:nvPr/>
        </p:nvSpPr>
        <p:spPr>
          <a:xfrm>
            <a:off x="838198" y="2738009"/>
            <a:ext cx="896795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Person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xue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"2020"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print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...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delete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//if its destructor is not virtual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195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8909F8F-B33E-9244-BB2C-425FBEE38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Inheritance and Dynamic Memory Allocation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3C137B87-D26D-4044-B1B3-1C95FE7E99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883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5A8FB-574D-1340-A881-5C26BC0C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4502EB-C98C-3B4B-BB9B-EC198B1F9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If a base class uses dynamic memory allocation, and redefines a copy constructor and assignment operator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Case 1: If no dynamic memory allocation in the derived class, no special operations are needed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Case 2: if dynamic memory is allocated in the derived </a:t>
            </a:r>
            <a:br>
              <a:rPr kumimoji="1" lang="en-US" altLang="zh-CN" dirty="0"/>
            </a:br>
            <a:r>
              <a:rPr kumimoji="1" lang="en-US" altLang="zh-CN" dirty="0"/>
              <a:t>class, you should redefine a copy constructor and </a:t>
            </a:r>
            <a:br>
              <a:rPr kumimoji="1" lang="en-US" altLang="zh-CN" dirty="0"/>
            </a:br>
            <a:r>
              <a:rPr kumimoji="1" lang="en-US" altLang="zh-CN" dirty="0"/>
              <a:t>an assignment operator.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6778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8A300-F2C4-6C45-A37A-5DF0F61C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Case 2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9DE747-14AB-E246-814A-1CC9B4DD22F3}"/>
              </a:ext>
            </a:extLst>
          </p:cNvPr>
          <p:cNvSpPr/>
          <p:nvPr/>
        </p:nvSpPr>
        <p:spPr>
          <a:xfrm>
            <a:off x="1376479" y="1097852"/>
            <a:ext cx="997732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MyMap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 pubic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MyString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keyname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public: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MyMap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key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...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MyMap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MyMap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mm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buf_len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mm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characters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//allocate memory for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keyname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//and hard copy from mm to *this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MyMap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operator=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MyMap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  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::operator=(mm);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   //allocate memory for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keyname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   //and hard copy from mm to *this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this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36006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F068A18-BD63-9E4B-B144-5B8F3DA6BC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Examples in OpenCV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E241DD8-FCB3-054E-9FA6-AD5C603E22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583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3B6E3-7D54-5C47-BA97-EDC62099F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Derived cv::Mat_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66397F-8AFD-944C-9BF7-0369A75D5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700838"/>
          </a:xfrm>
        </p:spPr>
        <p:txBody>
          <a:bodyPr/>
          <a:lstStyle/>
          <a:p>
            <a:r>
              <a:rPr kumimoji="1" lang="en-US" altLang="zh-CN" dirty="0"/>
              <a:t>Template matrix class derived from cv::Mat, a wrapper, more C++ style.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9C68A7-FE2B-4742-A827-D438B27F1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43" y="2260600"/>
            <a:ext cx="7099300" cy="45974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9CF599E-E2BA-E843-9D35-BDD76D997695}"/>
              </a:ext>
            </a:extLst>
          </p:cNvPr>
          <p:cNvSpPr/>
          <p:nvPr/>
        </p:nvSpPr>
        <p:spPr>
          <a:xfrm>
            <a:off x="604751" y="2027833"/>
            <a:ext cx="4526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modules/core/include/opencv2/core/mat.hpp</a:t>
            </a:r>
          </a:p>
        </p:txBody>
      </p:sp>
    </p:spTree>
    <p:extLst>
      <p:ext uri="{BB962C8B-B14F-4D97-AF65-F5344CB8AC3E}">
        <p14:creationId xmlns:p14="http://schemas.microsoft.com/office/powerpoint/2010/main" val="3318981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EE299-D47C-E643-80DE-2596D2860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cv::</a:t>
            </a:r>
            <a:r>
              <a:rPr kumimoji="1" lang="en-US" altLang="zh-CN" dirty="0" err="1"/>
              <a:t>Matx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F3F856-3AD7-3D47-B267-34A334977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833631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A template class for small matrices whose type and size are known at compilation time.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C7C277-BF65-9F48-9812-64B828B98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25" y="2452990"/>
            <a:ext cx="4945975" cy="440500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ED96B18-4FE7-E644-B213-AE970EB8765A}"/>
              </a:ext>
            </a:extLst>
          </p:cNvPr>
          <p:cNvSpPr/>
          <p:nvPr/>
        </p:nvSpPr>
        <p:spPr>
          <a:xfrm>
            <a:off x="1150025" y="2020437"/>
            <a:ext cx="462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modules/core/include/opencv2/core/matx.hpp</a:t>
            </a:r>
          </a:p>
        </p:txBody>
      </p:sp>
    </p:spTree>
    <p:extLst>
      <p:ext uri="{BB962C8B-B14F-4D97-AF65-F5344CB8AC3E}">
        <p14:creationId xmlns:p14="http://schemas.microsoft.com/office/powerpoint/2010/main" val="2308791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A426C-E4B6-5C42-9238-3E6503DE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cv::</a:t>
            </a:r>
            <a:r>
              <a:rPr kumimoji="1" lang="en-US" altLang="zh-CN" dirty="0" err="1"/>
              <a:t>Vec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1E577D-D04D-2746-9D24-5418AD01E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3464"/>
            <a:ext cx="6731000" cy="63754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D6D422D-9D97-F748-A979-034DB2B59223}"/>
              </a:ext>
            </a:extLst>
          </p:cNvPr>
          <p:cNvSpPr/>
          <p:nvPr/>
        </p:nvSpPr>
        <p:spPr>
          <a:xfrm>
            <a:off x="299922" y="1125992"/>
            <a:ext cx="462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modules/core/include/opencv2/core/matx.hpp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31F9777-A352-7146-88AF-B12DEF7B5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852" y="2210468"/>
            <a:ext cx="6733147" cy="493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2400" dirty="0" err="1">
                <a:solidFill>
                  <a:srgbClr val="267F99"/>
                </a:solidFill>
                <a:latin typeface="Menlo" panose="020B0609030804020204" pitchFamily="49" charset="0"/>
              </a:rPr>
              <a:t>Vec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xyz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1.2f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2.3f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3.4f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74226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8C9BB-77E7-EC4A-83C6-F81F6808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Combined with typedef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D6E128-7D7E-0841-BF8D-5DC0E6B8A947}"/>
              </a:ext>
            </a:extLst>
          </p:cNvPr>
          <p:cNvSpPr/>
          <p:nvPr/>
        </p:nvSpPr>
        <p:spPr>
          <a:xfrm>
            <a:off x="299921" y="995363"/>
            <a:ext cx="462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modules/core/include/opencv2/core/matx.hpp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9B98AC4-E5A9-2242-94CF-33199C777549}"/>
              </a:ext>
            </a:extLst>
          </p:cNvPr>
          <p:cNvSpPr txBox="1">
            <a:spLocks/>
          </p:cNvSpPr>
          <p:nvPr/>
        </p:nvSpPr>
        <p:spPr>
          <a:xfrm>
            <a:off x="5464530" y="1364695"/>
            <a:ext cx="6733147" cy="493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2400" dirty="0" err="1">
                <a:solidFill>
                  <a:srgbClr val="267F99"/>
                </a:solidFill>
                <a:latin typeface="Menlo" panose="020B0609030804020204" pitchFamily="49" charset="0"/>
              </a:rPr>
              <a:t>Vec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xyz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1.2f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2.3f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3.4f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5337124-02AD-A746-A4A2-ABB18C0885F2}"/>
              </a:ext>
            </a:extLst>
          </p:cNvPr>
          <p:cNvSpPr txBox="1">
            <a:spLocks/>
          </p:cNvSpPr>
          <p:nvPr/>
        </p:nvSpPr>
        <p:spPr>
          <a:xfrm>
            <a:off x="5464530" y="2604824"/>
            <a:ext cx="6733147" cy="493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2400" dirty="0">
                <a:solidFill>
                  <a:srgbClr val="267F99"/>
                </a:solidFill>
                <a:latin typeface="Menlo" panose="020B0609030804020204" pitchFamily="49" charset="0"/>
              </a:rPr>
              <a:t>Vec3f </a:t>
            </a:r>
            <a:r>
              <a:rPr lang="en" altLang="zh-CN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xyz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1.2f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2.3f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3.4f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60C580C-9D6D-774A-86AF-CD07C7F8A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479" y="1364695"/>
            <a:ext cx="3403600" cy="5575300"/>
          </a:xfrm>
          <a:prstGeom prst="rect">
            <a:avLst/>
          </a:prstGeom>
        </p:spPr>
      </p:pic>
      <p:sp>
        <p:nvSpPr>
          <p:cNvPr id="11" name="下箭头 10">
            <a:extLst>
              <a:ext uri="{FF2B5EF4-FFF2-40B4-BE49-F238E27FC236}">
                <a16:creationId xmlns:a16="http://schemas.microsoft.com/office/drawing/2014/main" id="{6ACA160D-A1C4-934F-9C53-FFFE0B41F5E3}"/>
              </a:ext>
            </a:extLst>
          </p:cNvPr>
          <p:cNvSpPr/>
          <p:nvPr/>
        </p:nvSpPr>
        <p:spPr>
          <a:xfrm>
            <a:off x="7587574" y="1858517"/>
            <a:ext cx="642026" cy="746307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1160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17B8A-1DB2-A04A-97B9-826FE99A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Combined with typedef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9ACC2B-01D2-CD4F-9D9E-B84024877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F11CF1-E0C0-DF41-B57C-CCBEABF12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479" y="1326995"/>
            <a:ext cx="4000500" cy="6096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118F642-7EEA-A14D-AEE9-00F278A7C059}"/>
              </a:ext>
            </a:extLst>
          </p:cNvPr>
          <p:cNvSpPr/>
          <p:nvPr/>
        </p:nvSpPr>
        <p:spPr>
          <a:xfrm>
            <a:off x="6334358" y="1326995"/>
            <a:ext cx="50194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Matx33f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          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          7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(m*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()))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358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31931</TotalTime>
  <Words>1190</Words>
  <Application>Microsoft Macintosh PowerPoint</Application>
  <PresentationFormat>宽屏</PresentationFormat>
  <Paragraphs>216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KaiTi</vt:lpstr>
      <vt:lpstr>等线</vt:lpstr>
      <vt:lpstr>Arial</vt:lpstr>
      <vt:lpstr>Calibri</vt:lpstr>
      <vt:lpstr>Courier</vt:lpstr>
      <vt:lpstr>Franklin Gothic Demi</vt:lpstr>
      <vt:lpstr>Franklin Gothic Medium</vt:lpstr>
      <vt:lpstr>Menlo</vt:lpstr>
      <vt:lpstr>Wingdings</vt:lpstr>
      <vt:lpstr>Office 主题</vt:lpstr>
      <vt:lpstr>Advanced Programming</vt:lpstr>
      <vt:lpstr>Derived Classes</vt:lpstr>
      <vt:lpstr>Inheritance</vt:lpstr>
      <vt:lpstr>Constructors</vt:lpstr>
      <vt:lpstr>Destructors</vt:lpstr>
      <vt:lpstr>Access Control</vt:lpstr>
      <vt:lpstr>Member Access</vt:lpstr>
      <vt:lpstr>Member Access</vt:lpstr>
      <vt:lpstr> Public Inheritance</vt:lpstr>
      <vt:lpstr> Protected Inheritance</vt:lpstr>
      <vt:lpstr> Private Inheritance</vt:lpstr>
      <vt:lpstr>Virtual Functions</vt:lpstr>
      <vt:lpstr>Virtual Functions</vt:lpstr>
      <vt:lpstr>Virtual Functions</vt:lpstr>
      <vt:lpstr>Virtual Destructors</vt:lpstr>
      <vt:lpstr>Inheritance and Dynamic Memory Allocation</vt:lpstr>
      <vt:lpstr>Question</vt:lpstr>
      <vt:lpstr>Case 2</vt:lpstr>
      <vt:lpstr>Examples in OpenCV</vt:lpstr>
      <vt:lpstr>Derived cv::Mat_ </vt:lpstr>
      <vt:lpstr>cv::Matx</vt:lpstr>
      <vt:lpstr>cv::Vec</vt:lpstr>
      <vt:lpstr>Combined with typedef</vt:lpstr>
      <vt:lpstr>Combined with typedef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1568</cp:revision>
  <dcterms:created xsi:type="dcterms:W3CDTF">2020-09-05T08:11:12Z</dcterms:created>
  <dcterms:modified xsi:type="dcterms:W3CDTF">2026-05-11T14:15:43Z</dcterms:modified>
  <cp:category/>
</cp:coreProperties>
</file>