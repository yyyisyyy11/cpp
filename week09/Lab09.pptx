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1077" r:id="rId3"/>
    <p:sldId id="1036" r:id="rId4"/>
    <p:sldId id="416" r:id="rId5"/>
    <p:sldId id="340" r:id="rId6"/>
    <p:sldId id="432" r:id="rId7"/>
    <p:sldId id="434" r:id="rId8"/>
    <p:sldId id="417" r:id="rId9"/>
    <p:sldId id="1073" r:id="rId10"/>
    <p:sldId id="1075" r:id="rId11"/>
    <p:sldId id="1074" r:id="rId12"/>
    <p:sldId id="1037" r:id="rId13"/>
    <p:sldId id="1070" r:id="rId14"/>
    <p:sldId id="1068" r:id="rId15"/>
    <p:sldId id="1071" r:id="rId16"/>
    <p:sldId id="574" r:id="rId17"/>
    <p:sldId id="1076" r:id="rId18"/>
    <p:sldId id="106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AD36DEC-C341-44F9-B2A6-084DEED868A8}">
          <p14:sldIdLst>
            <p14:sldId id="256"/>
            <p14:sldId id="1077"/>
          </p14:sldIdLst>
        </p14:section>
        <p14:section name="C++" id="{341ADEED-BD99-4592-8D52-538B18758B46}">
          <p14:sldIdLst>
            <p14:sldId id="1036"/>
            <p14:sldId id="416"/>
            <p14:sldId id="340"/>
            <p14:sldId id="432"/>
            <p14:sldId id="434"/>
            <p14:sldId id="417"/>
            <p14:sldId id="1073"/>
            <p14:sldId id="1075"/>
            <p14:sldId id="1074"/>
            <p14:sldId id="1037"/>
            <p14:sldId id="1070"/>
            <p14:sldId id="1068"/>
            <p14:sldId id="1071"/>
          </p14:sldIdLst>
        </p14:section>
        <p14:section name="exercises" id="{EBB335C4-4711-4EB9-B4F8-6CB2DA21A0BF}">
          <p14:sldIdLst>
            <p14:sldId id="574"/>
            <p14:sldId id="1076"/>
            <p14:sldId id="10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681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9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37EF7-A117-46B7-88A8-1B7FB98FF0F2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05520-EB74-4E10-9207-DDFEA7EA0F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4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5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  <a:sym typeface="+mn-ea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9, Class(1)</a:t>
            </a:r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廖琪梅，王大兴</a:t>
            </a:r>
            <a:r>
              <a:rPr lang="en-US" altLang="zh-CN" dirty="0">
                <a:latin typeface="Franklin Gothic Medium" panose="020B0603020102020204" pitchFamily="34" charset="0"/>
                <a:sym typeface="+mn-ea"/>
              </a:rPr>
              <a:t>, </a:t>
            </a:r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于仕琪，王薇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Topic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3640"/>
            <a:ext cx="11054080" cy="5079365"/>
          </a:xfrm>
        </p:spPr>
        <p:txBody>
          <a:bodyPr>
            <a:normAutofit fontScale="90000" lnSpcReduction="20000"/>
          </a:bodyPr>
          <a:lstStyle/>
          <a:p>
            <a:r>
              <a:rPr lang="en-US" altLang="zh-CN" dirty="0">
                <a:sym typeface="+mn-ea"/>
              </a:rPr>
              <a:t>Class in C++</a:t>
            </a:r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400" dirty="0">
                <a:sym typeface="+mn-ea"/>
              </a:rPr>
              <a:t>Class </a:t>
            </a:r>
            <a:r>
              <a:rPr lang="en-US" altLang="zh-CN" sz="2400" b="1" dirty="0">
                <a:sym typeface="+mn-ea"/>
              </a:rPr>
              <a:t>constructor </a:t>
            </a:r>
            <a:r>
              <a:rPr lang="en-US" altLang="zh-CN" sz="2400" dirty="0">
                <a:sym typeface="+mn-ea"/>
              </a:rPr>
              <a:t>and </a:t>
            </a:r>
            <a:r>
              <a:rPr lang="en-US" altLang="zh-CN" sz="2400" b="1" dirty="0">
                <a:sym typeface="+mn-ea"/>
              </a:rPr>
              <a:t>destructor</a:t>
            </a:r>
            <a:endParaRPr lang="en-US" altLang="zh-CN" sz="2400" dirty="0">
              <a:sym typeface="+mn-ea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400" b="1" dirty="0">
                <a:sym typeface="+mn-ea"/>
              </a:rPr>
              <a:t>Static </a:t>
            </a:r>
            <a:r>
              <a:rPr lang="en-US" altLang="zh-CN" sz="2400" dirty="0">
                <a:sym typeface="+mn-ea"/>
              </a:rPr>
              <a:t>member variables and static member functions</a:t>
            </a:r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400" b="1" dirty="0">
                <a:sym typeface="+mn-ea"/>
              </a:rPr>
              <a:t>Const </a:t>
            </a:r>
            <a:r>
              <a:rPr lang="en-US" altLang="zh-CN" sz="2400" dirty="0">
                <a:sym typeface="+mn-ea"/>
              </a:rPr>
              <a:t>member variables and const member functions</a:t>
            </a:r>
          </a:p>
          <a:p>
            <a:pPr lvl="1">
              <a:buFont typeface="Wingdings" panose="05000000000000000000" charset="0"/>
              <a:buChar char="Ø"/>
            </a:pP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/>
              <a:t>Exercises</a:t>
            </a:r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pPr marL="457200" lvl="1" indent="0">
              <a:buNone/>
            </a:pPr>
            <a:endParaRPr lang="en-US" altLang="zh-CN" dirty="0">
              <a:highlight>
                <a:srgbClr val="FFFF00"/>
              </a:highlight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/>
              <a:t>Class Constructors</a:t>
            </a:r>
            <a:endParaRPr lang="zh-CN" altLang="en-US" sz="3200" b="1" dirty="0"/>
          </a:p>
        </p:txBody>
      </p:sp>
      <p:sp>
        <p:nvSpPr>
          <p:cNvPr id="8" name="TextBox 1"/>
          <p:cNvSpPr txBox="1"/>
          <p:nvPr/>
        </p:nvSpPr>
        <p:spPr>
          <a:xfrm>
            <a:off x="1254861" y="1917923"/>
            <a:ext cx="66985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1. Has exact same name as the class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2. No return value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3. It is a public member function of the class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4. Invoked whenever you create objects of that class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630937" y="3897227"/>
            <a:ext cx="11173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400" dirty="0"/>
              <a:t>Constructors can be very useful for setting initial values for certain member variables.</a:t>
            </a:r>
          </a:p>
          <a:p>
            <a:pPr marL="0" lvl="1"/>
            <a:r>
              <a:rPr lang="en-US" altLang="zh-CN" sz="2400" dirty="0"/>
              <a:t>If you do not provide a constructor, C++ compiler </a:t>
            </a:r>
            <a:r>
              <a:rPr lang="en-US" altLang="zh-CN" sz="2400" b="1" dirty="0">
                <a:solidFill>
                  <a:srgbClr val="FF0000"/>
                </a:solidFill>
              </a:rPr>
              <a:t>generates </a:t>
            </a:r>
            <a:r>
              <a:rPr lang="en-US" altLang="zh-CN" sz="2400" dirty="0"/>
              <a:t>a </a:t>
            </a:r>
            <a:r>
              <a:rPr lang="en-US" altLang="zh-CN" sz="2400" b="1" dirty="0"/>
              <a:t>default constructor</a:t>
            </a:r>
            <a:r>
              <a:rPr lang="en-US" altLang="zh-CN" sz="2400" dirty="0"/>
              <a:t> (has no parameters and an empty body) for you. </a:t>
            </a:r>
            <a:endParaRPr lang="zh-CN" altLang="en-US" sz="2400" dirty="0"/>
          </a:p>
        </p:txBody>
      </p:sp>
      <p:sp>
        <p:nvSpPr>
          <p:cNvPr id="10" name="TextBox 1"/>
          <p:cNvSpPr txBox="1"/>
          <p:nvPr/>
        </p:nvSpPr>
        <p:spPr>
          <a:xfrm>
            <a:off x="1154285" y="1222455"/>
            <a:ext cx="7285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altLang="zh-CN" sz="2800" dirty="0"/>
              <a:t>A class constructor is a special member function:</a:t>
            </a:r>
            <a:endParaRPr lang="zh-CN" altLang="zh-CN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439808" y="5276367"/>
            <a:ext cx="11897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solidFill>
                  <a:srgbClr val="FF0000"/>
                </a:solidFill>
              </a:rPr>
              <a:t>Note</a:t>
            </a:r>
            <a:r>
              <a:rPr lang="en-US" altLang="zh-CN" sz="2400" dirty="0" err="1"/>
              <a:t>:The</a:t>
            </a:r>
            <a:r>
              <a:rPr lang="en-US" altLang="zh-CN" sz="2400" dirty="0"/>
              <a:t> constructor can be overloaded, be careful the constructor with default arguments.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834" y="2600164"/>
            <a:ext cx="5554255" cy="234932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94" y="1188189"/>
            <a:ext cx="4479119" cy="4907849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737153" y="3494352"/>
            <a:ext cx="4770681" cy="929551"/>
            <a:chOff x="701725" y="3850258"/>
            <a:chExt cx="5256584" cy="1024228"/>
          </a:xfrm>
        </p:grpSpPr>
        <p:sp>
          <p:nvSpPr>
            <p:cNvPr id="6" name="矩形 5"/>
            <p:cNvSpPr/>
            <p:nvPr/>
          </p:nvSpPr>
          <p:spPr>
            <a:xfrm>
              <a:off x="701725" y="3850258"/>
              <a:ext cx="3534096" cy="1024228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>
                <a:solidFill>
                  <a:prstClr val="white"/>
                </a:solidFill>
              </a:endParaRPr>
            </a:p>
          </p:txBody>
        </p:sp>
        <p:cxnSp>
          <p:nvCxnSpPr>
            <p:cNvPr id="5" name="曲线连接符 4"/>
            <p:cNvCxnSpPr/>
            <p:nvPr/>
          </p:nvCxnSpPr>
          <p:spPr>
            <a:xfrm flipV="1">
              <a:off x="4734173" y="3906150"/>
              <a:ext cx="1224136" cy="506301"/>
            </a:xfrm>
            <a:prstGeom prst="curvedConnector3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5899945" y="4017166"/>
            <a:ext cx="4547683" cy="1512499"/>
            <a:chOff x="6390357" y="4426322"/>
            <a:chExt cx="5010873" cy="1666550"/>
          </a:xfrm>
        </p:grpSpPr>
        <p:sp>
          <p:nvSpPr>
            <p:cNvPr id="13" name="矩形 12"/>
            <p:cNvSpPr/>
            <p:nvPr/>
          </p:nvSpPr>
          <p:spPr>
            <a:xfrm>
              <a:off x="6390357" y="4426322"/>
              <a:ext cx="648072" cy="7920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>
                <a:solidFill>
                  <a:prstClr val="white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14393" y="5683380"/>
              <a:ext cx="4686837" cy="4094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15" dirty="0">
                  <a:solidFill>
                    <a:srgbClr val="FF0000"/>
                  </a:solidFill>
                </a:rPr>
                <a:t>“this” is a pointer points to the object itself</a:t>
              </a:r>
              <a:endParaRPr lang="zh-CN" altLang="en-US" sz="1815" dirty="0">
                <a:solidFill>
                  <a:srgbClr val="FF0000"/>
                </a:solidFill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H="1" flipV="1">
              <a:off x="6894413" y="5218410"/>
              <a:ext cx="144016" cy="46497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5507833" y="1453616"/>
            <a:ext cx="4479121" cy="2536655"/>
            <a:chOff x="266236" y="1453616"/>
            <a:chExt cx="4479121" cy="2536655"/>
          </a:xfrm>
        </p:grpSpPr>
        <p:sp>
          <p:nvSpPr>
            <p:cNvPr id="20" name="矩形 19"/>
            <p:cNvSpPr/>
            <p:nvPr/>
          </p:nvSpPr>
          <p:spPr>
            <a:xfrm>
              <a:off x="266236" y="2662517"/>
              <a:ext cx="548312" cy="1327754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圆角矩形标注 8"/>
            <p:cNvSpPr/>
            <p:nvPr/>
          </p:nvSpPr>
          <p:spPr>
            <a:xfrm>
              <a:off x="266237" y="1453616"/>
              <a:ext cx="4479120" cy="765778"/>
            </a:xfrm>
            <a:prstGeom prst="wedgeRoundRectCallout">
              <a:avLst>
                <a:gd name="adj1" fmla="val -40929"/>
                <a:gd name="adj2" fmla="val 11005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Implementation of  functions using the </a:t>
              </a:r>
              <a:r>
                <a:rPr lang="en-US" altLang="zh-CN" sz="2000" b="1" dirty="0">
                  <a:solidFill>
                    <a:srgbClr val="FFFF00"/>
                  </a:solidFill>
                </a:rPr>
                <a:t>scope resolution operator(::)</a:t>
              </a:r>
              <a:endParaRPr lang="zh-CN" altLang="en-US" sz="2000" b="1" dirty="0">
                <a:solidFill>
                  <a:srgbClr val="FFFF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146" y="1721734"/>
            <a:ext cx="5524500" cy="2085975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29" y="1721734"/>
            <a:ext cx="5196489" cy="34717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802504" y="2856909"/>
            <a:ext cx="5196489" cy="1263140"/>
            <a:chOff x="629717" y="3435930"/>
            <a:chExt cx="5725761" cy="1391795"/>
          </a:xfrm>
        </p:grpSpPr>
        <p:sp>
          <p:nvSpPr>
            <p:cNvPr id="2" name="矩形 1"/>
            <p:cNvSpPr/>
            <p:nvPr/>
          </p:nvSpPr>
          <p:spPr>
            <a:xfrm>
              <a:off x="629717" y="4399231"/>
              <a:ext cx="3055224" cy="428494"/>
            </a:xfrm>
            <a:prstGeom prst="rect">
              <a:avLst/>
            </a:prstGeom>
            <a:noFill/>
            <a:ln w="2540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 dirty="0"/>
            </a:p>
          </p:txBody>
        </p:sp>
        <p:cxnSp>
          <p:nvCxnSpPr>
            <p:cNvPr id="5" name="曲线连接符 4"/>
            <p:cNvCxnSpPr/>
            <p:nvPr/>
          </p:nvCxnSpPr>
          <p:spPr>
            <a:xfrm flipV="1">
              <a:off x="3684941" y="3435930"/>
              <a:ext cx="2670537" cy="1177549"/>
            </a:xfrm>
            <a:prstGeom prst="curvedConnector3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7995786" y="2544662"/>
            <a:ext cx="3556860" cy="849573"/>
            <a:chOff x="8838629" y="2410098"/>
            <a:chExt cx="3919133" cy="936104"/>
          </a:xfrm>
        </p:grpSpPr>
        <p:sp>
          <p:nvSpPr>
            <p:cNvPr id="13" name="矩形 12"/>
            <p:cNvSpPr/>
            <p:nvPr/>
          </p:nvSpPr>
          <p:spPr>
            <a:xfrm>
              <a:off x="8838629" y="2410098"/>
              <a:ext cx="2088232" cy="19831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sp>
          <p:nvSpPr>
            <p:cNvPr id="15" name="矩形 14"/>
            <p:cNvSpPr/>
            <p:nvPr/>
          </p:nvSpPr>
          <p:spPr>
            <a:xfrm>
              <a:off x="10854855" y="3147890"/>
              <a:ext cx="1902907" cy="19831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9951759" y="2374209"/>
            <a:ext cx="1843562" cy="840044"/>
            <a:chOff x="10854855" y="2338090"/>
            <a:chExt cx="2031333" cy="925604"/>
          </a:xfrm>
        </p:grpSpPr>
        <p:cxnSp>
          <p:nvCxnSpPr>
            <p:cNvPr id="11" name="直接箭头连接符 10"/>
            <p:cNvCxnSpPr/>
            <p:nvPr/>
          </p:nvCxnSpPr>
          <p:spPr>
            <a:xfrm flipH="1" flipV="1">
              <a:off x="10854855" y="2608410"/>
              <a:ext cx="454238" cy="152400"/>
            </a:xfrm>
            <a:prstGeom prst="straightConnector1">
              <a:avLst/>
            </a:prstGeom>
            <a:ln w="25400" cmpd="sng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11309094" y="2760810"/>
              <a:ext cx="252023" cy="502884"/>
            </a:xfrm>
            <a:prstGeom prst="straightConnector1">
              <a:avLst/>
            </a:prstGeom>
            <a:ln w="25400" cmpd="sng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0983280" y="2338090"/>
              <a:ext cx="1902908" cy="378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35" dirty="0"/>
                <a:t>initialization  list</a:t>
              </a:r>
              <a:endParaRPr lang="zh-CN" altLang="en-US" sz="1635" dirty="0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895387" y="399317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member </a:t>
            </a:r>
            <a:r>
              <a:rPr lang="en-US" altLang="zh-CN" b="1" dirty="0"/>
              <a:t>initialization list </a:t>
            </a:r>
            <a:r>
              <a:rPr lang="en-US" altLang="zh-CN" dirty="0"/>
              <a:t>is set off from the parameter list by a colon. It is a comma-separated list in which the value to be assigned the member is placed in parentheses following the member's name. 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000272" y="53789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member initialization list is used primarily to pass arguments to </a:t>
            </a:r>
            <a:r>
              <a:rPr lang="en-US" altLang="zh-CN" b="1" dirty="0"/>
              <a:t>member class object </a:t>
            </a:r>
            <a:r>
              <a:rPr lang="en-US" altLang="zh-CN" dirty="0"/>
              <a:t>constructors.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794" y="350869"/>
            <a:ext cx="3482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Default constructor</a:t>
            </a:r>
            <a:endParaRPr lang="zh-CN" alt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10393" y="1076335"/>
            <a:ext cx="11501917" cy="1432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80" dirty="0">
                <a:solidFill>
                  <a:prstClr val="black"/>
                </a:solidFill>
              </a:rPr>
              <a:t>    A </a:t>
            </a:r>
            <a:r>
              <a:rPr lang="en-US" altLang="zh-CN" sz="2180" b="1" dirty="0">
                <a:solidFill>
                  <a:prstClr val="black"/>
                </a:solidFill>
              </a:rPr>
              <a:t>default constructor </a:t>
            </a:r>
            <a:r>
              <a:rPr lang="en-US" altLang="zh-CN" sz="2180" dirty="0">
                <a:solidFill>
                  <a:prstClr val="black"/>
                </a:solidFill>
              </a:rPr>
              <a:t>is a constructor that is used to create an object when you don’t provide </a:t>
            </a:r>
          </a:p>
          <a:p>
            <a:r>
              <a:rPr lang="en-US" altLang="zh-CN" sz="2180" dirty="0">
                <a:solidFill>
                  <a:prstClr val="black"/>
                </a:solidFill>
              </a:rPr>
              <a:t>explicit initialization values. If you do not provide any constructors, the compiler will automatically </a:t>
            </a:r>
          </a:p>
          <a:p>
            <a:r>
              <a:rPr lang="en-US" altLang="zh-CN" sz="2180" dirty="0">
                <a:solidFill>
                  <a:prstClr val="black"/>
                </a:solidFill>
              </a:rPr>
              <a:t>supplies a default constructor. It’s an implicit version of a default constructor, and it does nothing.</a:t>
            </a:r>
          </a:p>
          <a:p>
            <a:r>
              <a:rPr lang="en-US" altLang="zh-CN" sz="2180" dirty="0">
                <a:solidFill>
                  <a:prstClr val="black"/>
                </a:solidFill>
              </a:rPr>
              <a:t>There is </a:t>
            </a:r>
            <a:r>
              <a:rPr lang="en-US" altLang="zh-CN" sz="2180" b="1" dirty="0">
                <a:solidFill>
                  <a:prstClr val="black"/>
                </a:solidFill>
              </a:rPr>
              <a:t>only one default constructor </a:t>
            </a:r>
            <a:r>
              <a:rPr lang="en-US" altLang="zh-CN" sz="2180" dirty="0">
                <a:solidFill>
                  <a:prstClr val="black"/>
                </a:solidFill>
              </a:rPr>
              <a:t>in a class. </a:t>
            </a:r>
            <a:endParaRPr lang="zh-CN" altLang="en-US" sz="2180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4058" y="2514075"/>
            <a:ext cx="10867327" cy="762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80" dirty="0">
                <a:solidFill>
                  <a:prstClr val="black"/>
                </a:solidFill>
              </a:rPr>
              <a:t>    If you define any constructor for a class, the compiler will not provide default constructor. </a:t>
            </a:r>
            <a:r>
              <a:rPr lang="en-US" altLang="zh-CN" sz="2180" b="1" dirty="0">
                <a:solidFill>
                  <a:srgbClr val="00B0F0"/>
                </a:solidFill>
              </a:rPr>
              <a:t>You must define your own default constructor that takes no arguments.</a:t>
            </a:r>
            <a:endParaRPr lang="zh-CN" altLang="en-US" sz="2180" b="1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6449" y="3552325"/>
            <a:ext cx="10867327" cy="1042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85" dirty="0">
                <a:solidFill>
                  <a:prstClr val="black"/>
                </a:solidFill>
              </a:rPr>
              <a:t>You can define a default constructor </a:t>
            </a:r>
            <a:r>
              <a:rPr lang="en-US" altLang="zh-CN" sz="2085" b="1" dirty="0">
                <a:solidFill>
                  <a:srgbClr val="00B0F0"/>
                </a:solidFill>
              </a:rPr>
              <a:t>two ways</a:t>
            </a:r>
            <a:r>
              <a:rPr lang="en-US" altLang="zh-CN" sz="2085" dirty="0">
                <a:solidFill>
                  <a:prstClr val="black"/>
                </a:solidFill>
              </a:rPr>
              <a:t>. </a:t>
            </a:r>
            <a:r>
              <a:rPr lang="en-US" altLang="zh-CN" sz="2085" b="1" dirty="0">
                <a:solidFill>
                  <a:srgbClr val="FF0000"/>
                </a:solidFill>
              </a:rPr>
              <a:t>One</a:t>
            </a:r>
            <a:r>
              <a:rPr lang="en-US" altLang="zh-CN" sz="2085" dirty="0">
                <a:solidFill>
                  <a:prstClr val="black"/>
                </a:solidFill>
              </a:rPr>
              <a:t> is to provide default values for all the arguments to the existing constructor:</a:t>
            </a:r>
          </a:p>
          <a:p>
            <a:r>
              <a:rPr lang="en-US" altLang="zh-CN" sz="1635" dirty="0">
                <a:solidFill>
                  <a:prstClr val="black"/>
                </a:solidFill>
              </a:rPr>
              <a:t>                       </a:t>
            </a:r>
            <a:r>
              <a:rPr lang="en-US" altLang="zh-CN" sz="2000" b="1" dirty="0">
                <a:solidFill>
                  <a:srgbClr val="00B0F0"/>
                </a:solidFill>
              </a:rPr>
              <a:t>Box(double </a:t>
            </a:r>
            <a:r>
              <a:rPr lang="en-US" altLang="zh-CN" sz="2000" b="1" dirty="0" err="1">
                <a:solidFill>
                  <a:srgbClr val="00B0F0"/>
                </a:solidFill>
              </a:rPr>
              <a:t>len</a:t>
            </a:r>
            <a:r>
              <a:rPr lang="en-US" altLang="zh-CN" sz="2000" b="1" dirty="0">
                <a:solidFill>
                  <a:srgbClr val="00B0F0"/>
                </a:solidFill>
              </a:rPr>
              <a:t> = 1.0, double </a:t>
            </a:r>
            <a:r>
              <a:rPr lang="en-US" altLang="zh-CN" sz="2000" b="1" dirty="0" err="1">
                <a:solidFill>
                  <a:srgbClr val="00B0F0"/>
                </a:solidFill>
              </a:rPr>
              <a:t>bre</a:t>
            </a:r>
            <a:r>
              <a:rPr lang="en-US" altLang="zh-CN" sz="2000" b="1" dirty="0">
                <a:solidFill>
                  <a:srgbClr val="00B0F0"/>
                </a:solidFill>
              </a:rPr>
              <a:t> = 1.0, double </a:t>
            </a:r>
            <a:r>
              <a:rPr lang="en-US" altLang="zh-CN" sz="2000" b="1" dirty="0" err="1">
                <a:solidFill>
                  <a:srgbClr val="00B0F0"/>
                </a:solidFill>
              </a:rPr>
              <a:t>hei</a:t>
            </a:r>
            <a:r>
              <a:rPr lang="en-US" altLang="zh-CN" sz="2000" b="1" dirty="0">
                <a:solidFill>
                  <a:srgbClr val="00B0F0"/>
                </a:solidFill>
              </a:rPr>
              <a:t> = 1.0);</a:t>
            </a:r>
            <a:endParaRPr lang="zh-CN" altLang="en-US" sz="2000" b="1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1801" y="4932092"/>
            <a:ext cx="10867327" cy="721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85" dirty="0">
                <a:solidFill>
                  <a:prstClr val="black"/>
                </a:solidFill>
              </a:rPr>
              <a:t>The </a:t>
            </a:r>
            <a:r>
              <a:rPr lang="en-US" altLang="zh-CN" sz="2085" b="1" dirty="0">
                <a:solidFill>
                  <a:srgbClr val="FF0000"/>
                </a:solidFill>
              </a:rPr>
              <a:t>second</a:t>
            </a:r>
            <a:r>
              <a:rPr lang="en-US" altLang="zh-CN" sz="2085" dirty="0">
                <a:solidFill>
                  <a:prstClr val="black"/>
                </a:solidFill>
              </a:rPr>
              <a:t> is to use function overloading to define a second constructor that has no arguments:</a:t>
            </a:r>
          </a:p>
          <a:p>
            <a:r>
              <a:rPr lang="en-US" altLang="zh-CN" sz="1635" b="1" dirty="0">
                <a:solidFill>
                  <a:srgbClr val="00B0F0"/>
                </a:solidFill>
              </a:rPr>
              <a:t>                               </a:t>
            </a:r>
            <a:r>
              <a:rPr lang="en-US" altLang="zh-CN" sz="2000" b="1" dirty="0">
                <a:solidFill>
                  <a:srgbClr val="00B0F0"/>
                </a:solidFill>
              </a:rPr>
              <a:t>Box( );</a:t>
            </a:r>
            <a:endParaRPr lang="zh-CN" altLang="en-US" sz="2000" b="1" dirty="0">
              <a:solidFill>
                <a:srgbClr val="00B0F0"/>
              </a:solidFill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06449" y="6030160"/>
            <a:ext cx="10867327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85" b="1" dirty="0">
                <a:solidFill>
                  <a:srgbClr val="FF0000"/>
                </a:solidFill>
              </a:rPr>
              <a:t>NOTE: </a:t>
            </a:r>
            <a:r>
              <a:rPr lang="en-US" altLang="zh-CN" sz="2085" dirty="0">
                <a:solidFill>
                  <a:prstClr val="black"/>
                </a:solidFill>
              </a:rPr>
              <a:t>You can have </a:t>
            </a:r>
            <a:r>
              <a:rPr lang="en-US" altLang="zh-CN" sz="2085" b="1" dirty="0">
                <a:solidFill>
                  <a:srgbClr val="FF0000"/>
                </a:solidFill>
              </a:rPr>
              <a:t>only one default constructor</a:t>
            </a:r>
            <a:r>
              <a:rPr lang="en-US" altLang="zh-CN" sz="2085" dirty="0">
                <a:solidFill>
                  <a:prstClr val="black"/>
                </a:solidFill>
              </a:rPr>
              <a:t>, so be sure that you don’t do both.                             </a:t>
            </a:r>
            <a:endParaRPr lang="zh-CN" altLang="en-US" sz="208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81" y="4145918"/>
            <a:ext cx="9025525" cy="10015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9336" y="470774"/>
            <a:ext cx="29286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prstClr val="black"/>
                </a:solidFill>
              </a:rPr>
              <a:t>Creating objects</a:t>
            </a:r>
            <a:endParaRPr lang="zh-CN" altLang="en-US" sz="3200" b="1" dirty="0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745" y="1272391"/>
            <a:ext cx="11393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</a:rPr>
              <a:t>    When you create an object, the constructor will be invoked automatically. If you define default constructor, you can declare object variables without initializing them explicitly.  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2336" y="3485704"/>
            <a:ext cx="10867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</a:rPr>
              <a:t>You shouldn’t be misled by implicit form of the non-default constructor.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5828" y="4478527"/>
            <a:ext cx="5990544" cy="911306"/>
            <a:chOff x="1284480" y="5097172"/>
            <a:chExt cx="6600692" cy="1004124"/>
          </a:xfrm>
        </p:grpSpPr>
        <p:sp>
          <p:nvSpPr>
            <p:cNvPr id="9" name="矩形 8"/>
            <p:cNvSpPr/>
            <p:nvPr/>
          </p:nvSpPr>
          <p:spPr>
            <a:xfrm>
              <a:off x="1284480" y="5097172"/>
              <a:ext cx="2297564" cy="326414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238251" y="5435014"/>
              <a:ext cx="4646921" cy="666282"/>
              <a:chOff x="1149596" y="4875267"/>
              <a:chExt cx="4646917" cy="666294"/>
            </a:xfrm>
          </p:grpSpPr>
          <p:cxnSp>
            <p:nvCxnSpPr>
              <p:cNvPr id="11" name="直接箭头连接符 10"/>
              <p:cNvCxnSpPr/>
              <p:nvPr/>
            </p:nvCxnSpPr>
            <p:spPr>
              <a:xfrm flipH="1" flipV="1">
                <a:off x="1149597" y="4875267"/>
                <a:ext cx="343794" cy="236741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1149596" y="5162730"/>
                <a:ext cx="4646917" cy="378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35" dirty="0">
                    <a:solidFill>
                      <a:srgbClr val="FF0000"/>
                    </a:solidFill>
                  </a:rPr>
                  <a:t>second() is a function that returns a Box object.</a:t>
                </a:r>
                <a:endParaRPr lang="zh-CN" altLang="en-US" sz="1635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774254" y="5652200"/>
            <a:ext cx="10867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</a:rPr>
              <a:t>When you implicitly call the default constructor, do not use parentheses.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85" y="2312833"/>
            <a:ext cx="8191997" cy="9743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0871" y="311807"/>
            <a:ext cx="3186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 Class Destructors</a:t>
            </a:r>
            <a:endParaRPr lang="zh-CN" altLang="en-US" sz="3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91646" y="1725299"/>
            <a:ext cx="99114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1.A destructor name is the same as the </a:t>
            </a:r>
            <a:r>
              <a:rPr lang="en-US" altLang="zh-CN" sz="2000" dirty="0" err="1">
                <a:solidFill>
                  <a:srgbClr val="FF0000"/>
                </a:solidFill>
              </a:rPr>
              <a:t>classname</a:t>
            </a:r>
            <a:r>
              <a:rPr lang="en-US" altLang="zh-CN" sz="2000" dirty="0">
                <a:solidFill>
                  <a:srgbClr val="FF0000"/>
                </a:solidFill>
              </a:rPr>
              <a:t> but begins with tilde(~) sign.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2. Destructor has no return value.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3. A destructor has no arguments.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4. There can be only one destructor in a class.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5. The compiler always creates a default destructor if you fail to provide one for a class.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6. Invoke when an object goes out of scope or the delete is applied to a pointer to the object.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3773" y="4227039"/>
            <a:ext cx="10057536" cy="81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360" dirty="0"/>
              <a:t>Destructor can be very useful for </a:t>
            </a:r>
            <a:r>
              <a:rPr lang="en-US" altLang="zh-CN" sz="2360" dirty="0">
                <a:solidFill>
                  <a:srgbClr val="FF0000"/>
                </a:solidFill>
              </a:rPr>
              <a:t>releasing resource </a:t>
            </a:r>
            <a:r>
              <a:rPr lang="en-US" altLang="zh-CN" sz="2360" dirty="0"/>
              <a:t>before coming out of the program like closing files, releasing memories etc.</a:t>
            </a:r>
          </a:p>
        </p:txBody>
      </p:sp>
      <p:sp>
        <p:nvSpPr>
          <p:cNvPr id="10" name="TextBox 7"/>
          <p:cNvSpPr txBox="1"/>
          <p:nvPr/>
        </p:nvSpPr>
        <p:spPr>
          <a:xfrm>
            <a:off x="1257629" y="1021427"/>
            <a:ext cx="6692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altLang="zh-CN" sz="2400" dirty="0"/>
              <a:t>A class destructor is also a special member function:</a:t>
            </a:r>
            <a:endParaRPr lang="zh-CN" altLang="zh-CN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183773" y="5374908"/>
            <a:ext cx="5786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Note</a:t>
            </a:r>
            <a:r>
              <a:rPr lang="en-US" altLang="zh-CN" sz="2400" dirty="0" err="1"/>
              <a:t>:The</a:t>
            </a:r>
            <a:r>
              <a:rPr lang="en-US" altLang="zh-CN" sz="2400" dirty="0"/>
              <a:t> destructor can not be overloaded.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03" y="3018714"/>
            <a:ext cx="9903402" cy="362319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>
                <a:sym typeface="+mn-ea"/>
              </a:rPr>
              <a:t>Static member variables</a:t>
            </a:r>
            <a:endParaRPr lang="zh-CN" altLang="en-US" sz="32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10833" y="1112317"/>
            <a:ext cx="10632141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2400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The static member variables in a class are shared by all the class objects as there is only one copy of them in the memory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, regardless of the number of objects of the class.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You must provide an explicit definition of that instance within a program text file. The definition looks like the global definition of an object except that its name is qualified with the class scope operator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::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810582" y="3595046"/>
            <a:ext cx="7790456" cy="840890"/>
            <a:chOff x="1284480" y="4497050"/>
            <a:chExt cx="8583936" cy="926536"/>
          </a:xfrm>
        </p:grpSpPr>
        <p:sp>
          <p:nvSpPr>
            <p:cNvPr id="7" name="矩形 6"/>
            <p:cNvSpPr/>
            <p:nvPr/>
          </p:nvSpPr>
          <p:spPr>
            <a:xfrm>
              <a:off x="1284480" y="5097172"/>
              <a:ext cx="2173425" cy="32641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3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3457905" y="4497050"/>
              <a:ext cx="6410511" cy="637924"/>
              <a:chOff x="1369251" y="3937303"/>
              <a:chExt cx="6410511" cy="637924"/>
            </a:xfrm>
          </p:grpSpPr>
          <p:cxnSp>
            <p:nvCxnSpPr>
              <p:cNvPr id="10" name="直接箭头连接符 9"/>
              <p:cNvCxnSpPr/>
              <p:nvPr/>
            </p:nvCxnSpPr>
            <p:spPr>
              <a:xfrm flipH="1">
                <a:off x="1369251" y="4258738"/>
                <a:ext cx="467936" cy="31648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1"/>
              <p:cNvSpPr txBox="1"/>
              <p:nvPr/>
            </p:nvSpPr>
            <p:spPr>
              <a:xfrm>
                <a:off x="1753520" y="3937303"/>
                <a:ext cx="6026242" cy="378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3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static member variable can not be initialized when it is defined</a:t>
                </a:r>
                <a:endParaRPr kumimoji="0" lang="zh-CN" altLang="en-US" sz="163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1428065" y="5794752"/>
            <a:ext cx="8446739" cy="877834"/>
            <a:chOff x="1233594" y="4497050"/>
            <a:chExt cx="9307070" cy="967244"/>
          </a:xfrm>
        </p:grpSpPr>
        <p:sp>
          <p:nvSpPr>
            <p:cNvPr id="13" name="矩形 12"/>
            <p:cNvSpPr/>
            <p:nvPr/>
          </p:nvSpPr>
          <p:spPr>
            <a:xfrm>
              <a:off x="1233594" y="5137880"/>
              <a:ext cx="3148666" cy="32641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457905" y="4497050"/>
              <a:ext cx="7082759" cy="637924"/>
              <a:chOff x="1369251" y="3937303"/>
              <a:chExt cx="7082759" cy="637924"/>
            </a:xfrm>
          </p:grpSpPr>
          <p:cxnSp>
            <p:nvCxnSpPr>
              <p:cNvPr id="15" name="直接箭头连接符 14"/>
              <p:cNvCxnSpPr/>
              <p:nvPr/>
            </p:nvCxnSpPr>
            <p:spPr>
              <a:xfrm flipH="1">
                <a:off x="1369251" y="4258738"/>
                <a:ext cx="467936" cy="31648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1"/>
              <p:cNvSpPr txBox="1"/>
              <p:nvPr/>
            </p:nvSpPr>
            <p:spPr>
              <a:xfrm>
                <a:off x="1753520" y="3937303"/>
                <a:ext cx="6698490" cy="378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3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static member variable must be initialized outside the class definition</a:t>
                </a:r>
                <a:endParaRPr kumimoji="0" lang="zh-CN" altLang="en-US" sz="163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5" name="椭圆 4"/>
          <p:cNvSpPr/>
          <p:nvPr/>
        </p:nvSpPr>
        <p:spPr>
          <a:xfrm>
            <a:off x="1764402" y="6388333"/>
            <a:ext cx="1233701" cy="264221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03" y="2825043"/>
            <a:ext cx="9903402" cy="362319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>
                <a:sym typeface="+mn-ea"/>
              </a:rPr>
              <a:t>Static member functions</a:t>
            </a:r>
            <a:endParaRPr lang="zh-CN" altLang="en-US" sz="32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890766" y="1097852"/>
            <a:ext cx="10632141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 static member function can be invoked independently of a class object in exactly this way.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 member function can be declared as static only if it does not access any non-static class members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. We make it static by prefacing its declaration within the class definition with the keyword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static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452280" y="4292828"/>
            <a:ext cx="5249569" cy="1535315"/>
            <a:chOff x="1284479" y="4497050"/>
            <a:chExt cx="5784254" cy="1691690"/>
          </a:xfrm>
        </p:grpSpPr>
        <p:sp>
          <p:nvSpPr>
            <p:cNvPr id="7" name="矩形 6"/>
            <p:cNvSpPr/>
            <p:nvPr/>
          </p:nvSpPr>
          <p:spPr>
            <a:xfrm>
              <a:off x="1284479" y="5097172"/>
              <a:ext cx="2429939" cy="109156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3457905" y="4497050"/>
              <a:ext cx="3610828" cy="637924"/>
              <a:chOff x="1369251" y="3937303"/>
              <a:chExt cx="3610828" cy="637924"/>
            </a:xfrm>
          </p:grpSpPr>
          <p:cxnSp>
            <p:nvCxnSpPr>
              <p:cNvPr id="10" name="直接箭头连接符 9"/>
              <p:cNvCxnSpPr/>
              <p:nvPr/>
            </p:nvCxnSpPr>
            <p:spPr>
              <a:xfrm flipH="1">
                <a:off x="1369251" y="4258738"/>
                <a:ext cx="467936" cy="31648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1"/>
              <p:cNvSpPr txBox="1"/>
              <p:nvPr/>
            </p:nvSpPr>
            <p:spPr>
              <a:xfrm>
                <a:off x="1753520" y="3937303"/>
                <a:ext cx="3226559" cy="378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3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Define a static member function</a:t>
                </a:r>
                <a:endParaRPr kumimoji="0" lang="zh-CN" altLang="en-US" sz="163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590" y="1420847"/>
            <a:ext cx="5581650" cy="45148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60943" y="675969"/>
            <a:ext cx="7506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You can use object or class to access the static members.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67668" y="4007234"/>
            <a:ext cx="1494264" cy="2118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64671" y="4851005"/>
            <a:ext cx="2211659" cy="2118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281" y="2730930"/>
            <a:ext cx="4057004" cy="3352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>
                <a:sym typeface="+mn-ea"/>
              </a:rPr>
              <a:t>Const member variables</a:t>
            </a:r>
            <a:endParaRPr lang="zh-CN" altLang="en-US" sz="32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88312" y="881366"/>
            <a:ext cx="104169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/>
              <a:t>The </a:t>
            </a:r>
            <a:r>
              <a:rPr lang="en-US" altLang="zh-CN" sz="2400" b="1" dirty="0"/>
              <a:t>const</a:t>
            </a:r>
            <a:r>
              <a:rPr lang="en-US" altLang="zh-CN" sz="2400" dirty="0"/>
              <a:t> keyword specifies that a variable’s value is constant and tells the compiler to prevent the programmer from modifying it. If some member variables need not be modified, these variables can be defined as </a:t>
            </a:r>
            <a:r>
              <a:rPr lang="en-US" altLang="zh-CN" sz="2400" b="1" dirty="0">
                <a:solidFill>
                  <a:srgbClr val="00B0F0"/>
                </a:solidFill>
              </a:rPr>
              <a:t>const</a:t>
            </a:r>
            <a:r>
              <a:rPr lang="en-US" altLang="zh-CN" sz="2400" dirty="0"/>
              <a:t>. These const member variables can  be initialized by </a:t>
            </a:r>
            <a:r>
              <a:rPr lang="en-US" altLang="zh-CN" sz="2400" b="1" dirty="0">
                <a:solidFill>
                  <a:srgbClr val="00B0F0"/>
                </a:solidFill>
              </a:rPr>
              <a:t>initialization list </a:t>
            </a:r>
            <a:r>
              <a:rPr lang="en-US" altLang="zh-CN" sz="2400" dirty="0"/>
              <a:t>in the constructor.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299053" y="3324569"/>
            <a:ext cx="3909250" cy="681578"/>
            <a:chOff x="1284481" y="4662663"/>
            <a:chExt cx="4307411" cy="750997"/>
          </a:xfrm>
        </p:grpSpPr>
        <p:sp>
          <p:nvSpPr>
            <p:cNvPr id="13" name="矩形 12"/>
            <p:cNvSpPr/>
            <p:nvPr/>
          </p:nvSpPr>
          <p:spPr>
            <a:xfrm>
              <a:off x="1284481" y="5097172"/>
              <a:ext cx="1377515" cy="3164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2572329" y="4662663"/>
              <a:ext cx="3019563" cy="601056"/>
              <a:chOff x="483675" y="4102916"/>
              <a:chExt cx="3019563" cy="601056"/>
            </a:xfrm>
          </p:grpSpPr>
          <p:cxnSp>
            <p:nvCxnSpPr>
              <p:cNvPr id="15" name="直接箭头连接符 14"/>
              <p:cNvCxnSpPr/>
              <p:nvPr/>
            </p:nvCxnSpPr>
            <p:spPr>
              <a:xfrm flipH="1">
                <a:off x="483675" y="4387483"/>
                <a:ext cx="467936" cy="31648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1"/>
              <p:cNvSpPr txBox="1"/>
              <p:nvPr/>
            </p:nvSpPr>
            <p:spPr>
              <a:xfrm>
                <a:off x="1052148" y="4102916"/>
                <a:ext cx="2451090" cy="378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35" dirty="0"/>
                  <a:t>const member variable</a:t>
                </a:r>
                <a:endParaRPr lang="zh-CN" altLang="en-US" sz="1635" dirty="0"/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1304646" y="3682497"/>
            <a:ext cx="7226312" cy="758604"/>
            <a:chOff x="1284481" y="4587716"/>
            <a:chExt cx="7962316" cy="835870"/>
          </a:xfrm>
        </p:grpSpPr>
        <p:sp>
          <p:nvSpPr>
            <p:cNvPr id="19" name="矩形 18"/>
            <p:cNvSpPr/>
            <p:nvPr/>
          </p:nvSpPr>
          <p:spPr>
            <a:xfrm>
              <a:off x="1284481" y="5097172"/>
              <a:ext cx="2297564" cy="32641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3457905" y="4587716"/>
              <a:ext cx="5788892" cy="586770"/>
              <a:chOff x="1369251" y="4027969"/>
              <a:chExt cx="5788892" cy="586770"/>
            </a:xfrm>
          </p:grpSpPr>
          <p:cxnSp>
            <p:nvCxnSpPr>
              <p:cNvPr id="21" name="直接箭头连接符 20"/>
              <p:cNvCxnSpPr/>
              <p:nvPr/>
            </p:nvCxnSpPr>
            <p:spPr>
              <a:xfrm flipH="1">
                <a:off x="1369251" y="4298250"/>
                <a:ext cx="467936" cy="31648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11"/>
              <p:cNvSpPr txBox="1"/>
              <p:nvPr/>
            </p:nvSpPr>
            <p:spPr>
              <a:xfrm>
                <a:off x="1791652" y="4027969"/>
                <a:ext cx="5366491" cy="378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35" dirty="0"/>
                  <a:t>Initialize the const member variable by initialization list</a:t>
                </a:r>
                <a:endParaRPr lang="zh-CN" altLang="en-US" sz="1635" dirty="0"/>
              </a:p>
            </p:txBody>
          </p:sp>
        </p:grp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589" y="4577185"/>
            <a:ext cx="2023224" cy="150583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6309800" y="4441096"/>
            <a:ext cx="5607150" cy="810954"/>
            <a:chOff x="1284481" y="4513916"/>
            <a:chExt cx="6178242" cy="893551"/>
          </a:xfrm>
        </p:grpSpPr>
        <p:sp>
          <p:nvSpPr>
            <p:cNvPr id="29" name="矩形 28"/>
            <p:cNvSpPr/>
            <p:nvPr/>
          </p:nvSpPr>
          <p:spPr>
            <a:xfrm>
              <a:off x="1284481" y="5097173"/>
              <a:ext cx="1738781" cy="31029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2875963" y="4513916"/>
              <a:ext cx="4586760" cy="655922"/>
              <a:chOff x="787309" y="3954169"/>
              <a:chExt cx="4586760" cy="655922"/>
            </a:xfrm>
          </p:grpSpPr>
          <p:cxnSp>
            <p:nvCxnSpPr>
              <p:cNvPr id="31" name="直接箭头连接符 30"/>
              <p:cNvCxnSpPr/>
              <p:nvPr/>
            </p:nvCxnSpPr>
            <p:spPr>
              <a:xfrm flipH="1">
                <a:off x="787309" y="4242700"/>
                <a:ext cx="467936" cy="31648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11"/>
              <p:cNvSpPr txBox="1"/>
              <p:nvPr/>
            </p:nvSpPr>
            <p:spPr>
              <a:xfrm>
                <a:off x="1249899" y="3954169"/>
                <a:ext cx="4124170" cy="6559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35" dirty="0"/>
                  <a:t>Create an object of </a:t>
                </a:r>
                <a:r>
                  <a:rPr lang="en-US" altLang="zh-CN" sz="1635" dirty="0" err="1"/>
                  <a:t>MyClass</a:t>
                </a:r>
                <a:r>
                  <a:rPr lang="en-US" altLang="zh-CN" sz="1635" dirty="0"/>
                  <a:t>, initialize the </a:t>
                </a:r>
              </a:p>
              <a:p>
                <a:r>
                  <a:rPr lang="en-US" altLang="zh-CN" sz="1635" dirty="0"/>
                  <a:t>value of x 40.</a:t>
                </a:r>
                <a:endParaRPr lang="zh-CN" altLang="en-US" sz="1635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>
                <a:sym typeface="+mn-ea"/>
              </a:rPr>
              <a:t>Const member variables</a:t>
            </a:r>
            <a:endParaRPr lang="zh-CN" altLang="en-US" sz="32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479" y="1660431"/>
            <a:ext cx="3800475" cy="298132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810582" y="1608427"/>
            <a:ext cx="8004361" cy="840890"/>
            <a:chOff x="1284480" y="4497050"/>
            <a:chExt cx="8819627" cy="926536"/>
          </a:xfrm>
        </p:grpSpPr>
        <p:sp>
          <p:nvSpPr>
            <p:cNvPr id="6" name="矩形 5"/>
            <p:cNvSpPr/>
            <p:nvPr/>
          </p:nvSpPr>
          <p:spPr>
            <a:xfrm>
              <a:off x="1284480" y="5097172"/>
              <a:ext cx="3605702" cy="32641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457905" y="4497050"/>
              <a:ext cx="6646202" cy="637924"/>
              <a:chOff x="1369251" y="3937303"/>
              <a:chExt cx="6646202" cy="637924"/>
            </a:xfrm>
          </p:grpSpPr>
          <p:cxnSp>
            <p:nvCxnSpPr>
              <p:cNvPr id="8" name="直接箭头连接符 7"/>
              <p:cNvCxnSpPr/>
              <p:nvPr/>
            </p:nvCxnSpPr>
            <p:spPr>
              <a:xfrm flipH="1">
                <a:off x="1369251" y="4258738"/>
                <a:ext cx="467936" cy="31648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11"/>
              <p:cNvSpPr txBox="1"/>
              <p:nvPr/>
            </p:nvSpPr>
            <p:spPr>
              <a:xfrm>
                <a:off x="1753520" y="3937303"/>
                <a:ext cx="6261933" cy="378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35" dirty="0"/>
                  <a:t>static const member variable can be initialized when it is defined</a:t>
                </a:r>
                <a:endParaRPr lang="zh-CN" altLang="en-US" sz="1635" dirty="0"/>
              </a:p>
            </p:txBody>
          </p:sp>
        </p:grp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121" y="2916050"/>
            <a:ext cx="3267075" cy="296227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5969611" y="2915835"/>
            <a:ext cx="3383739" cy="800448"/>
            <a:chOff x="3763149" y="4999224"/>
            <a:chExt cx="3728383" cy="881974"/>
          </a:xfrm>
        </p:grpSpPr>
        <p:sp>
          <p:nvSpPr>
            <p:cNvPr id="15" name="矩形 14"/>
            <p:cNvSpPr/>
            <p:nvPr/>
          </p:nvSpPr>
          <p:spPr>
            <a:xfrm>
              <a:off x="3763149" y="5554784"/>
              <a:ext cx="2104939" cy="32641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977013" y="4999224"/>
              <a:ext cx="2514519" cy="555561"/>
              <a:chOff x="2888359" y="4439477"/>
              <a:chExt cx="2514519" cy="555561"/>
            </a:xfrm>
          </p:grpSpPr>
          <p:cxnSp>
            <p:nvCxnSpPr>
              <p:cNvPr id="17" name="直接箭头连接符 16"/>
              <p:cNvCxnSpPr/>
              <p:nvPr/>
            </p:nvCxnSpPr>
            <p:spPr>
              <a:xfrm flipH="1">
                <a:off x="2888359" y="4774999"/>
                <a:ext cx="308288" cy="22003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1"/>
              <p:cNvSpPr txBox="1"/>
              <p:nvPr/>
            </p:nvSpPr>
            <p:spPr>
              <a:xfrm>
                <a:off x="3028724" y="4439477"/>
                <a:ext cx="2374154" cy="378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35" dirty="0"/>
                  <a:t>Define an enumeration</a:t>
                </a:r>
                <a:endParaRPr lang="zh-CN" altLang="en-US" sz="1635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>
                <a:sym typeface="+mn-ea"/>
              </a:rPr>
              <a:t>Const member functions</a:t>
            </a:r>
            <a:endParaRPr lang="zh-CN" altLang="en-US" sz="32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779929" y="1577806"/>
            <a:ext cx="106321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The </a:t>
            </a:r>
            <a:r>
              <a:rPr lang="en-US" altLang="zh-CN" sz="2400" b="1" dirty="0"/>
              <a:t>const</a:t>
            </a:r>
            <a:r>
              <a:rPr lang="en-US" altLang="zh-CN" sz="2400" dirty="0"/>
              <a:t> modifier follows the parameter list of the function, such function is called </a:t>
            </a:r>
            <a:r>
              <a:rPr lang="en-US" altLang="zh-CN" sz="2400" b="1" dirty="0"/>
              <a:t>const member function</a:t>
            </a:r>
            <a:r>
              <a:rPr lang="en-US" altLang="zh-CN" sz="2400" dirty="0"/>
              <a:t>. </a:t>
            </a:r>
            <a:r>
              <a:rPr lang="en-US" altLang="zh-CN" sz="2400" b="1" dirty="0">
                <a:solidFill>
                  <a:srgbClr val="00B0F0"/>
                </a:solidFill>
              </a:rPr>
              <a:t>const</a:t>
            </a:r>
            <a:r>
              <a:rPr lang="en-US" altLang="zh-CN" sz="2400" dirty="0"/>
              <a:t> indicates that the data of the class would not be modified by the function.</a:t>
            </a:r>
          </a:p>
          <a:p>
            <a:r>
              <a:rPr lang="en-US" altLang="zh-CN" sz="2400" dirty="0"/>
              <a:t>A const member function defined outside the class body must specify the </a:t>
            </a:r>
            <a:r>
              <a:rPr lang="en-US" altLang="zh-CN" sz="2400" b="1" dirty="0"/>
              <a:t>const </a:t>
            </a:r>
            <a:r>
              <a:rPr lang="en-US" altLang="zh-CN" sz="2400" dirty="0"/>
              <a:t>modifier in </a:t>
            </a:r>
            <a:r>
              <a:rPr lang="en-US" altLang="zh-CN" sz="2400" b="1" dirty="0"/>
              <a:t>both its declaration and definition</a:t>
            </a:r>
            <a:r>
              <a:rPr lang="en-US" altLang="zh-CN" sz="2400" dirty="0"/>
              <a:t>.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>
                <a:sym typeface="+mn-ea"/>
              </a:rPr>
              <a:t>Const member functions</a:t>
            </a:r>
            <a:endParaRPr lang="zh-CN" altLang="en-US" sz="32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79" y="1516314"/>
            <a:ext cx="5725761" cy="3825371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33126"/>
            <a:ext cx="5953125" cy="904875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7" name="矩形 6"/>
          <p:cNvSpPr/>
          <p:nvPr/>
        </p:nvSpPr>
        <p:spPr>
          <a:xfrm>
            <a:off x="6091527" y="2808091"/>
            <a:ext cx="5953124" cy="929909"/>
          </a:xfrm>
          <a:prstGeom prst="rect">
            <a:avLst/>
          </a:prstGeom>
          <a:noFill/>
          <a:ln w="254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595315" y="3428999"/>
            <a:ext cx="5496212" cy="1279306"/>
            <a:chOff x="451299" y="3717031"/>
            <a:chExt cx="5496212" cy="1279306"/>
          </a:xfrm>
        </p:grpSpPr>
        <p:sp>
          <p:nvSpPr>
            <p:cNvPr id="10" name="矩形 9"/>
            <p:cNvSpPr/>
            <p:nvPr/>
          </p:nvSpPr>
          <p:spPr>
            <a:xfrm>
              <a:off x="451299" y="4708305"/>
              <a:ext cx="1835652" cy="288032"/>
            </a:xfrm>
            <a:prstGeom prst="rect">
              <a:avLst/>
            </a:prstGeom>
            <a:noFill/>
            <a:ln w="2540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曲线连接符 4"/>
            <p:cNvCxnSpPr/>
            <p:nvPr/>
          </p:nvCxnSpPr>
          <p:spPr>
            <a:xfrm flipV="1">
              <a:off x="2503296" y="3717031"/>
              <a:ext cx="3444215" cy="1194485"/>
            </a:xfrm>
            <a:prstGeom prst="curvedConnector3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椭圆 2"/>
          <p:cNvSpPr/>
          <p:nvPr/>
        </p:nvSpPr>
        <p:spPr>
          <a:xfrm>
            <a:off x="1766047" y="4420273"/>
            <a:ext cx="528918" cy="28803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8175809" y="2779730"/>
            <a:ext cx="720605" cy="28803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237352" y="396090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Exercises 1</a:t>
            </a: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209550" y="1150620"/>
            <a:ext cx="4695825" cy="5081270"/>
          </a:xfrm>
        </p:spPr>
        <p:txBody>
          <a:bodyPr>
            <a:normAutofit fontScale="90000" lnSpcReduction="20000"/>
          </a:bodyPr>
          <a:lstStyle/>
          <a:p>
            <a:pPr marL="457200" indent="-457200" fontAlgn="auto">
              <a:lnSpc>
                <a:spcPct val="100000"/>
              </a:lnSpc>
              <a:buFont typeface="+mj-lt"/>
              <a:buAutoNum type="arabicPeriod"/>
            </a:pPr>
            <a:r>
              <a:rPr lang="en-US" altLang="zh-CN" sz="2400" dirty="0"/>
              <a:t>Will the program below execute successfully? Explain why or why not.</a:t>
            </a:r>
          </a:p>
          <a:p>
            <a:pPr marL="457200" indent="-457200" fontAlgn="auto">
              <a:lnSpc>
                <a:spcPct val="100000"/>
              </a:lnSpc>
              <a:buFont typeface="+mj-lt"/>
              <a:buAutoNum type="arabicPeriod"/>
            </a:pPr>
            <a:r>
              <a:rPr lang="en-US" altLang="zh-CN" sz="2400" dirty="0"/>
              <a:t>Modify the program as follows: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Fix any errors in the code.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Ensure that when a member function is called by an object, it displays the value of the </a:t>
            </a:r>
            <a:r>
              <a:rPr lang="en-US" altLang="zh-CN" sz="2000" i="1" dirty="0"/>
              <a:t>this</a:t>
            </a:r>
            <a:r>
              <a:rPr lang="en-US" altLang="zh-CN" sz="2000" dirty="0"/>
              <a:t>​ pointer and the member variable </a:t>
            </a:r>
            <a:r>
              <a:rPr lang="en-US" altLang="zh-CN" sz="2000" i="1" dirty="0"/>
              <a:t>id</a:t>
            </a:r>
            <a:r>
              <a:rPr lang="en-US" altLang="zh-CN" sz="2000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Ensure that when the function is called using the class name, it displays the value of the static variable </a:t>
            </a:r>
            <a:r>
              <a:rPr lang="en-US" altLang="zh-CN" sz="2000" i="1" dirty="0"/>
              <a:t>num</a:t>
            </a:r>
            <a:r>
              <a:rPr lang="en-US" altLang="zh-CN" sz="2000" dirty="0"/>
              <a:t>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122160" y="2456815"/>
            <a:ext cx="3832860" cy="2891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br>
              <a:rPr lang="en-US" altLang="zh-CN" sz="1400" dirty="0">
                <a:effectLst/>
                <a:sym typeface="+mn-ea"/>
              </a:rPr>
            </a:br>
            <a:r>
              <a:rPr lang="en-US" altLang="zh-CN" sz="1400" dirty="0">
                <a:effectLst/>
                <a:sym typeface="+mn-ea"/>
              </a:rPr>
              <a:t>int main() </a:t>
            </a:r>
            <a:endParaRPr lang="en-US" altLang="zh-CN" sz="1400" b="0" dirty="0">
              <a:effectLst/>
            </a:endParaRPr>
          </a:p>
          <a:p>
            <a:r>
              <a:rPr lang="en-US" altLang="zh-CN" sz="1400" dirty="0">
                <a:effectLst/>
                <a:sym typeface="+mn-ea"/>
              </a:rPr>
              <a:t>{</a:t>
            </a:r>
            <a:endParaRPr lang="en-US" altLang="zh-CN" sz="1400" b="0" dirty="0">
              <a:effectLst/>
            </a:endParaRPr>
          </a:p>
          <a:p>
            <a:r>
              <a:rPr lang="en-US" altLang="zh-CN" sz="1400" dirty="0">
                <a:effectLst/>
                <a:sym typeface="+mn-ea"/>
              </a:rPr>
              <a:t>   Demo obj;</a:t>
            </a:r>
            <a:endParaRPr lang="en-US" altLang="zh-CN" sz="1400" b="0" dirty="0">
              <a:effectLst/>
            </a:endParaRPr>
          </a:p>
          <a:p>
            <a:r>
              <a:rPr lang="en-US" altLang="zh-CN" sz="1400" dirty="0">
                <a:effectLst/>
                <a:sym typeface="+mn-ea"/>
              </a:rPr>
              <a:t>   </a:t>
            </a:r>
            <a:r>
              <a:rPr lang="en-US" altLang="zh-CN" sz="1400" dirty="0" err="1">
                <a:effectLst/>
                <a:sym typeface="+mn-ea"/>
              </a:rPr>
              <a:t>obj.display</a:t>
            </a:r>
            <a:r>
              <a:rPr lang="en-US" altLang="zh-CN" sz="1400" dirty="0">
                <a:effectLst/>
                <a:sym typeface="+mn-ea"/>
              </a:rPr>
              <a:t>();</a:t>
            </a:r>
            <a:endParaRPr lang="en-US" altLang="zh-CN" sz="1400" b="0" dirty="0">
              <a:effectLst/>
            </a:endParaRPr>
          </a:p>
          <a:p>
            <a:r>
              <a:rPr lang="en-US" altLang="zh-CN" sz="1400" dirty="0">
                <a:effectLst/>
                <a:sym typeface="+mn-ea"/>
              </a:rPr>
              <a:t>   return 0;</a:t>
            </a:r>
            <a:endParaRPr lang="en-US" altLang="zh-CN" sz="1400" b="0" dirty="0">
              <a:effectLst/>
            </a:endParaRPr>
          </a:p>
          <a:p>
            <a:r>
              <a:rPr lang="en-US" altLang="zh-CN" sz="1400" dirty="0">
                <a:effectLst/>
                <a:sym typeface="+mn-ea"/>
              </a:rPr>
              <a:t>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978400" y="69850"/>
            <a:ext cx="6785610" cy="6723380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#include</a:t>
            </a:r>
            <a:r>
              <a:rPr lang="en-US" altLang="zh-CN" sz="14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&lt;iostream&gt;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using </a:t>
            </a: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namespace </a:t>
            </a:r>
            <a:r>
              <a:rPr lang="en-US" altLang="zh-CN" sz="14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std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class </a:t>
            </a:r>
            <a:r>
              <a:rPr lang="en-US" altLang="zh-CN" sz="14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Demo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private: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4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void 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display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     </a:t>
            </a:r>
            <a:r>
              <a:rPr lang="en-US" altLang="zh-CN" sz="14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4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"this is: "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this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4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", id is:"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this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-&gt;</a:t>
            </a:r>
            <a:r>
              <a:rPr lang="en-US" altLang="zh-CN" sz="14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4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endl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}  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public :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    </a:t>
            </a:r>
            <a:r>
              <a:rPr lang="en-US" altLang="zh-CN" sz="140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  <a:sym typeface="+mn-ea"/>
              </a:rPr>
              <a:t>Demo</a:t>
            </a:r>
            <a:r>
              <a:rPr lang="en-US" altLang="zh-CN" sz="140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(</a:t>
            </a:r>
            <a:r>
              <a:rPr lang="en-US" altLang="zh-CN" sz="140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  <a:sym typeface="+mn-ea"/>
              </a:rPr>
              <a:t>int </a:t>
            </a:r>
            <a:r>
              <a:rPr lang="en-US" altLang="zh-CN" sz="140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  <a:sym typeface="+mn-ea"/>
              </a:rPr>
              <a:t>cid</a:t>
            </a:r>
            <a:r>
              <a:rPr lang="en-US" altLang="zh-CN" sz="140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){</a:t>
            </a:r>
            <a:endParaRPr lang="en-US" altLang="zh-CN" sz="1400" b="0" dirty="0">
              <a:solidFill>
                <a:srgbClr val="CCCCCC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40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            </a:t>
            </a:r>
            <a:r>
              <a:rPr lang="en-US" altLang="zh-CN" sz="140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  <a:sym typeface="+mn-ea"/>
              </a:rPr>
              <a:t>this</a:t>
            </a:r>
            <a:r>
              <a:rPr lang="en-US" altLang="zh-CN" sz="140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-&gt;</a:t>
            </a:r>
            <a:r>
              <a:rPr lang="en-US" altLang="zh-CN" sz="140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  <a:sym typeface="+mn-ea"/>
              </a:rPr>
              <a:t>id</a:t>
            </a:r>
            <a:r>
              <a:rPr lang="en-US" altLang="zh-CN" sz="1400" dirty="0">
                <a:solidFill>
                  <a:srgbClr val="D4D4D4"/>
                </a:solidFill>
                <a:latin typeface="Consolas" panose="020B0609020204030204"/>
                <a:ea typeface="Consolas" panose="020B0609020204030204"/>
                <a:sym typeface="+mn-ea"/>
              </a:rPr>
              <a:t>=</a:t>
            </a:r>
            <a:r>
              <a:rPr lang="en-US" altLang="zh-CN" sz="140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  <a:sym typeface="+mn-ea"/>
              </a:rPr>
              <a:t>cid</a:t>
            </a:r>
            <a:r>
              <a:rPr lang="en-US" altLang="zh-CN" sz="140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;</a:t>
            </a:r>
            <a:endParaRPr lang="en-US" altLang="zh-CN" sz="1400" b="0" dirty="0">
              <a:solidFill>
                <a:srgbClr val="CCCCCC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40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  <a:sym typeface="+mn-ea"/>
              </a:rPr>
              <a:t>        }</a:t>
            </a:r>
            <a:endParaRPr lang="en-US" altLang="zh-CN" sz="1400" b="0" dirty="0">
              <a:solidFill>
                <a:srgbClr val="569CD6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static int </a:t>
            </a:r>
            <a:r>
              <a:rPr lang="en-US" altLang="zh-CN" sz="14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1400" b="0" dirty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 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void 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display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     </a:t>
            </a:r>
            <a:r>
              <a:rPr lang="en-US" altLang="zh-CN" sz="14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cout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400" b="0" dirty="0">
                <a:solidFill>
                  <a:srgbClr val="CE9178"/>
                </a:solidFill>
                <a:latin typeface="Consolas" panose="020B0609020204030204"/>
                <a:ea typeface="Consolas" panose="020B0609020204030204"/>
              </a:rPr>
              <a:t>"The value of the static num is: "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4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num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sz="14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endl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}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};</a:t>
            </a:r>
            <a:r>
              <a:rPr lang="en-US" altLang="zh-CN" sz="1400" b="0" dirty="0">
                <a:solidFill>
                  <a:srgbClr val="6A9955"/>
                </a:solidFill>
                <a:latin typeface="Consolas" panose="020B0609020204030204"/>
                <a:ea typeface="Consolas" panose="020B0609020204030204"/>
              </a:rPr>
              <a:t>  </a:t>
            </a:r>
            <a:endParaRPr lang="zh-CN" altLang="en-US" sz="1400" b="0" dirty="0">
              <a:solidFill>
                <a:srgbClr val="6A9955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int 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main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 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4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Demo </a:t>
            </a:r>
            <a:r>
              <a:rPr lang="en-US" altLang="zh-CN" sz="14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obj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4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Demo </a:t>
            </a:r>
            <a:r>
              <a:rPr lang="en-US" altLang="zh-CN" sz="14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obj1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4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);</a:t>
            </a:r>
          </a:p>
          <a:p>
            <a:pPr indent="0" fontAlgn="auto">
              <a:lnSpc>
                <a:spcPct val="100000"/>
              </a:lnSpc>
            </a:pPr>
            <a:endParaRPr lang="en-US" altLang="zh-CN" sz="1400" b="0" dirty="0">
              <a:solidFill>
                <a:srgbClr val="CCCCCC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400" b="0" dirty="0" err="1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obj</a:t>
            </a:r>
            <a:r>
              <a:rPr lang="en-US" altLang="zh-CN" sz="1400" b="0" dirty="0" err="1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400" b="0" dirty="0" err="1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display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400" b="0" dirty="0">
                <a:solidFill>
                  <a:srgbClr val="9CDCFE"/>
                </a:solidFill>
                <a:latin typeface="Consolas" panose="020B0609020204030204"/>
                <a:ea typeface="Consolas" panose="020B0609020204030204"/>
              </a:rPr>
              <a:t>obj1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display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();</a:t>
            </a:r>
          </a:p>
          <a:p>
            <a:pPr indent="0" fontAlgn="auto">
              <a:lnSpc>
                <a:spcPct val="100000"/>
              </a:lnSpc>
            </a:pPr>
            <a:endParaRPr lang="en-US" altLang="zh-CN" sz="1400" b="0" dirty="0">
              <a:solidFill>
                <a:srgbClr val="CCCCCC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400" b="0" dirty="0">
                <a:solidFill>
                  <a:srgbClr val="4EC9B0"/>
                </a:solidFill>
                <a:latin typeface="Consolas" panose="020B0609020204030204"/>
                <a:ea typeface="Consolas" panose="020B0609020204030204"/>
              </a:rPr>
              <a:t>Demo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::</a:t>
            </a:r>
            <a:r>
              <a:rPr lang="en-US" altLang="zh-CN" sz="1400" b="0" dirty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display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();</a:t>
            </a:r>
          </a:p>
          <a:p>
            <a:pPr indent="0" fontAlgn="auto">
              <a:lnSpc>
                <a:spcPct val="100000"/>
              </a:lnSpc>
            </a:pPr>
            <a:endParaRPr lang="en-US" altLang="zh-CN" sz="1400" b="0" dirty="0">
              <a:solidFill>
                <a:srgbClr val="CCCCCC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400" b="0" dirty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 </a:t>
            </a:r>
            <a:r>
              <a:rPr lang="en-US" altLang="zh-CN" sz="1400" b="0" dirty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1400" b="0" dirty="0">
                <a:solidFill>
                  <a:srgbClr val="CCCCCC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237352" y="396090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Exercises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2</a:t>
            </a: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833946" y="1150641"/>
            <a:ext cx="11053879" cy="130615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" altLang="zh-CN" sz="2400" dirty="0">
                <a:sym typeface="+mn-ea"/>
              </a:rPr>
              <a:t>What is the result of running the program below?</a:t>
            </a:r>
          </a:p>
          <a:p>
            <a:pPr marL="457200" indent="-457200">
              <a:buFont typeface="+mj-lt"/>
              <a:buAutoNum type="arabicPeriod"/>
            </a:pPr>
            <a:r>
              <a:rPr lang="en" altLang="zh-CN" sz="2400" dirty="0">
                <a:sym typeface="+mn-ea"/>
              </a:rPr>
              <a:t>What happens if you uncomment the commented line in the main()function? Explain why.</a:t>
            </a:r>
          </a:p>
          <a:p>
            <a:pPr marL="0" indent="0">
              <a:buNone/>
            </a:pPr>
            <a:endParaRPr lang="zh-CN" altLang="en-US" sz="2400" dirty="0">
              <a:highlight>
                <a:srgbClr val="FFFF00"/>
              </a:highlight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34021" y="2525546"/>
            <a:ext cx="6183745" cy="37548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0" dirty="0">
                <a:effectLst/>
              </a:rPr>
              <a:t>#include &lt;iostream&gt;</a:t>
            </a:r>
          </a:p>
          <a:p>
            <a:r>
              <a:rPr lang="en-US" altLang="zh-CN" sz="1400" b="0" dirty="0">
                <a:effectLst/>
              </a:rPr>
              <a:t>using namespace std;</a:t>
            </a:r>
          </a:p>
          <a:p>
            <a:br>
              <a:rPr lang="en-US" altLang="zh-CN" sz="1400" b="0" dirty="0">
                <a:effectLst/>
              </a:rPr>
            </a:br>
            <a:r>
              <a:rPr lang="en-US" altLang="zh-CN" sz="1400" b="0" dirty="0">
                <a:effectLst/>
              </a:rPr>
              <a:t>class </a:t>
            </a:r>
            <a:r>
              <a:rPr lang="en-US" altLang="zh-CN" sz="1400" b="0" dirty="0" err="1">
                <a:effectLst/>
              </a:rPr>
              <a:t>ConstMember</a:t>
            </a:r>
            <a:r>
              <a:rPr lang="en-US" altLang="zh-CN" sz="1400" b="0" dirty="0">
                <a:effectLst/>
              </a:rPr>
              <a:t> </a:t>
            </a:r>
          </a:p>
          <a:p>
            <a:r>
              <a:rPr lang="en-US" altLang="zh-CN" sz="1400" b="0" dirty="0">
                <a:effectLst/>
              </a:rPr>
              <a:t>{</a:t>
            </a:r>
          </a:p>
          <a:p>
            <a:r>
              <a:rPr lang="en-US" altLang="zh-CN" sz="1400" b="0" dirty="0">
                <a:effectLst/>
              </a:rPr>
              <a:t>private:</a:t>
            </a:r>
          </a:p>
          <a:p>
            <a:r>
              <a:rPr lang="en-US" altLang="zh-CN" sz="1400" b="0" dirty="0">
                <a:effectLst/>
              </a:rPr>
              <a:t>  const int </a:t>
            </a:r>
            <a:r>
              <a:rPr lang="en-US" altLang="zh-CN" sz="1400" b="0" dirty="0" err="1">
                <a:effectLst/>
              </a:rPr>
              <a:t>m_a</a:t>
            </a:r>
            <a:r>
              <a:rPr lang="en-US" altLang="zh-CN" sz="1400" b="0" dirty="0">
                <a:effectLst/>
              </a:rPr>
              <a:t>;</a:t>
            </a:r>
          </a:p>
          <a:p>
            <a:r>
              <a:rPr lang="en-US" altLang="zh-CN" sz="1400" b="0" dirty="0">
                <a:effectLst/>
              </a:rPr>
              <a:t>public:</a:t>
            </a:r>
          </a:p>
          <a:p>
            <a:r>
              <a:rPr lang="en-US" altLang="zh-CN" sz="1400" b="0" dirty="0">
                <a:effectLst/>
              </a:rPr>
              <a:t>  </a:t>
            </a:r>
            <a:r>
              <a:rPr lang="en-US" altLang="zh-CN" sz="1400" b="0" dirty="0" err="1">
                <a:effectLst/>
              </a:rPr>
              <a:t>ConstMember</a:t>
            </a:r>
            <a:r>
              <a:rPr lang="en-US" altLang="zh-CN" sz="1400" b="0" dirty="0">
                <a:effectLst/>
              </a:rPr>
              <a:t>(int a) : </a:t>
            </a:r>
            <a:r>
              <a:rPr lang="en-US" altLang="zh-CN" sz="1400" b="0" dirty="0" err="1">
                <a:effectLst/>
              </a:rPr>
              <a:t>m_a</a:t>
            </a:r>
            <a:r>
              <a:rPr lang="en-US" altLang="zh-CN" sz="1400" b="0" dirty="0">
                <a:effectLst/>
              </a:rPr>
              <a:t>(a) {}</a:t>
            </a:r>
          </a:p>
          <a:p>
            <a:br>
              <a:rPr lang="en-US" altLang="zh-CN" sz="1400" b="0" dirty="0">
                <a:effectLst/>
              </a:rPr>
            </a:br>
            <a:r>
              <a:rPr lang="en-US" altLang="zh-CN" sz="1400" b="0" dirty="0">
                <a:effectLst/>
              </a:rPr>
              <a:t>  void display() const</a:t>
            </a:r>
          </a:p>
          <a:p>
            <a:r>
              <a:rPr lang="en-US" altLang="zh-CN" sz="1400" b="0" dirty="0">
                <a:effectLst/>
              </a:rPr>
              <a:t>  {</a:t>
            </a:r>
          </a:p>
          <a:p>
            <a:r>
              <a:rPr lang="en-US" altLang="zh-CN" sz="1400" b="0" dirty="0">
                <a:effectLst/>
              </a:rPr>
              <a:t>    </a:t>
            </a:r>
            <a:r>
              <a:rPr lang="en-US" altLang="zh-CN" sz="1400" b="0" dirty="0" err="1">
                <a:effectLst/>
              </a:rPr>
              <a:t>cout</a:t>
            </a:r>
            <a:r>
              <a:rPr lang="en-US" altLang="zh-CN" sz="1400" b="0" dirty="0">
                <a:effectLst/>
              </a:rPr>
              <a:t> &lt;&lt; "The value of the const member variable </a:t>
            </a:r>
            <a:r>
              <a:rPr lang="en-US" altLang="zh-CN" sz="1400" b="0" dirty="0" err="1">
                <a:effectLst/>
              </a:rPr>
              <a:t>m_a</a:t>
            </a:r>
            <a:r>
              <a:rPr lang="en-US" altLang="zh-CN" sz="1400" b="0" dirty="0">
                <a:effectLst/>
              </a:rPr>
              <a:t> is: "  &lt;&lt; </a:t>
            </a:r>
            <a:r>
              <a:rPr lang="en-US" altLang="zh-CN" sz="1400" b="0" dirty="0" err="1">
                <a:effectLst/>
              </a:rPr>
              <a:t>m_a</a:t>
            </a:r>
            <a:r>
              <a:rPr lang="en-US" altLang="zh-CN" sz="1400" b="0" dirty="0">
                <a:effectLst/>
              </a:rPr>
              <a:t> &lt;&lt; </a:t>
            </a:r>
            <a:r>
              <a:rPr lang="en-US" altLang="zh-CN" sz="1400" b="0" dirty="0" err="1">
                <a:effectLst/>
              </a:rPr>
              <a:t>endl</a:t>
            </a:r>
            <a:r>
              <a:rPr lang="en-US" altLang="zh-CN" sz="1400" b="0" dirty="0">
                <a:effectLst/>
              </a:rPr>
              <a:t>;</a:t>
            </a:r>
          </a:p>
          <a:p>
            <a:r>
              <a:rPr lang="en-US" altLang="zh-CN" sz="1400" b="0" dirty="0">
                <a:effectLst/>
              </a:rPr>
              <a:t>  }</a:t>
            </a:r>
            <a:br>
              <a:rPr lang="en-US" altLang="zh-CN" sz="1400" b="0" dirty="0">
                <a:effectLst/>
              </a:rPr>
            </a:br>
            <a:r>
              <a:rPr lang="en-US" altLang="zh-CN" sz="1400" b="0" dirty="0">
                <a:effectLst/>
              </a:rPr>
              <a:t>};</a:t>
            </a:r>
          </a:p>
          <a:p>
            <a:br>
              <a:rPr lang="en-US" altLang="zh-CN" sz="1400" b="0" dirty="0">
                <a:effectLst/>
              </a:rPr>
            </a:br>
            <a:endParaRPr lang="en-US" altLang="zh-CN" sz="1400" b="0" dirty="0"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79543" y="2956433"/>
            <a:ext cx="2361695" cy="28931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br>
              <a:rPr lang="en-US" altLang="zh-CN" sz="1400" b="0" dirty="0">
                <a:effectLst/>
              </a:rPr>
            </a:br>
            <a:r>
              <a:rPr lang="en-US" altLang="zh-CN" sz="1400" b="0" dirty="0">
                <a:effectLst/>
              </a:rPr>
              <a:t>int main() </a:t>
            </a:r>
          </a:p>
          <a:p>
            <a:r>
              <a:rPr lang="en-US" altLang="zh-CN" sz="1400" b="0" dirty="0">
                <a:effectLst/>
              </a:rPr>
              <a:t>{</a:t>
            </a:r>
          </a:p>
          <a:p>
            <a:r>
              <a:rPr lang="en-US" altLang="zh-CN" sz="1400" b="0" dirty="0">
                <a:effectLst/>
              </a:rPr>
              <a:t>  </a:t>
            </a:r>
            <a:r>
              <a:rPr lang="en-US" altLang="zh-CN" sz="1400" b="0" dirty="0" err="1">
                <a:effectLst/>
              </a:rPr>
              <a:t>ConstMember</a:t>
            </a:r>
            <a:r>
              <a:rPr lang="en-US" altLang="zh-CN" sz="1400" b="0" dirty="0">
                <a:effectLst/>
              </a:rPr>
              <a:t> o1{666};</a:t>
            </a:r>
          </a:p>
          <a:p>
            <a:r>
              <a:rPr lang="en-US" altLang="zh-CN" sz="1400" b="0" dirty="0">
                <a:effectLst/>
              </a:rPr>
              <a:t>  </a:t>
            </a:r>
            <a:r>
              <a:rPr lang="en-US" altLang="zh-CN" sz="1400" b="0" dirty="0" err="1">
                <a:effectLst/>
              </a:rPr>
              <a:t>ConstMember</a:t>
            </a:r>
            <a:r>
              <a:rPr lang="en-US" altLang="zh-CN" sz="1400" b="0" dirty="0">
                <a:effectLst/>
              </a:rPr>
              <a:t> o2{42};</a:t>
            </a:r>
          </a:p>
          <a:p>
            <a:br>
              <a:rPr lang="en-US" altLang="zh-CN" sz="1400" b="0" dirty="0">
                <a:effectLst/>
              </a:rPr>
            </a:br>
            <a:r>
              <a:rPr lang="en-US" altLang="zh-CN" sz="1400" b="0" dirty="0">
                <a:effectLst/>
              </a:rPr>
              <a:t>  o1.display();</a:t>
            </a:r>
          </a:p>
          <a:p>
            <a:r>
              <a:rPr lang="en-US" altLang="zh-CN" sz="1400" b="0" dirty="0">
                <a:effectLst/>
              </a:rPr>
              <a:t>  o2.display();</a:t>
            </a:r>
          </a:p>
          <a:p>
            <a:br>
              <a:rPr lang="en-US" altLang="zh-CN" sz="1400" b="0" dirty="0">
                <a:effectLst/>
              </a:rPr>
            </a:br>
            <a:r>
              <a:rPr lang="en-US" altLang="zh-CN" sz="1400" b="0" dirty="0">
                <a:effectLst/>
              </a:rPr>
              <a:t>//  o1 = o2;</a:t>
            </a:r>
          </a:p>
          <a:p>
            <a:br>
              <a:rPr lang="en-US" altLang="zh-CN" sz="1400" b="0" dirty="0">
                <a:effectLst/>
              </a:rPr>
            </a:br>
            <a:r>
              <a:rPr lang="en-US" altLang="zh-CN" sz="1400" b="0" dirty="0">
                <a:effectLst/>
              </a:rPr>
              <a:t>  return 0;</a:t>
            </a:r>
          </a:p>
          <a:p>
            <a:r>
              <a:rPr lang="en-US" altLang="zh-CN" sz="1400" b="0" dirty="0">
                <a:effectLst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225" y="1326995"/>
            <a:ext cx="11694854" cy="484996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Define a class named </a:t>
            </a:r>
            <a:r>
              <a:rPr lang="en-US" altLang="zh-CN" sz="2000" b="1" i="1" dirty="0"/>
              <a:t>Complex</a:t>
            </a:r>
            <a:r>
              <a:rPr lang="en-US" altLang="zh-CN" sz="2000" dirty="0"/>
              <a:t>​ to represent and perform arithmetic operations with complex numbers. A complex number is expressed in the form: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                               </a:t>
            </a:r>
            <a:r>
              <a:rPr lang="en-US" altLang="zh-CN" sz="2000" dirty="0" err="1"/>
              <a:t>realPart</a:t>
            </a:r>
            <a:r>
              <a:rPr lang="en-US" altLang="zh-CN" sz="2000" dirty="0"/>
              <a:t> + </a:t>
            </a:r>
            <a:r>
              <a:rPr lang="en-US" altLang="zh-CN" sz="2000" dirty="0" err="1"/>
              <a:t>imaginaryPart</a:t>
            </a:r>
            <a:r>
              <a:rPr lang="en-US" altLang="zh-CN" sz="2000" dirty="0"/>
              <a:t> * </a:t>
            </a:r>
            <a:r>
              <a:rPr lang="en-US" altLang="zh-CN" sz="2000" dirty="0" err="1"/>
              <a:t>i</a:t>
            </a:r>
            <a:endParaRPr lang="zh-CN" alt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" altLang="zh-CN" sz="2000" dirty="0"/>
              <a:t>Use two member variables​ to store the private data of the class (representing the real and imaginary parts).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" altLang="zh-CN" sz="2000" dirty="0"/>
              <a:t>Provide a constructor​ that allows an object to be initialized when it is declared. The constructor should include default values for both parts in case no initial values are provided.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" altLang="zh-CN" sz="2000" dirty="0"/>
              <a:t>Implement public member functions​ to perform at least the following tasks:</a:t>
            </a:r>
          </a:p>
          <a:p>
            <a:pPr marL="1143000"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CN" sz="1600" dirty="0"/>
              <a:t>add:​ Add two Complex</a:t>
            </a:r>
            <a:r>
              <a:rPr lang="zh-CN" altLang="en-US" sz="1600" dirty="0"/>
              <a:t> </a:t>
            </a:r>
            <a:r>
              <a:rPr lang="en" altLang="zh-CN" sz="1600" dirty="0"/>
              <a:t>numbers.</a:t>
            </a:r>
          </a:p>
          <a:p>
            <a:pPr marL="1143000"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CN" sz="1600" dirty="0"/>
              <a:t>subtract:​ Subtract two Complex</a:t>
            </a:r>
            <a:r>
              <a:rPr lang="zh-CN" altLang="en-US" sz="1600" dirty="0"/>
              <a:t> </a:t>
            </a:r>
            <a:r>
              <a:rPr lang="en" altLang="zh-CN" sz="1600" dirty="0"/>
              <a:t>numbers.</a:t>
            </a:r>
          </a:p>
          <a:p>
            <a:pPr marL="1143000"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CN" sz="1600" dirty="0"/>
              <a:t>display:​ Print a Complex</a:t>
            </a:r>
            <a:r>
              <a:rPr lang="zh-CN" altLang="en-US" sz="1600" dirty="0"/>
              <a:t> </a:t>
            </a:r>
            <a:r>
              <a:rPr lang="en" altLang="zh-CN" sz="1600" dirty="0"/>
              <a:t>number in a human-readable format, such as a + bi</a:t>
            </a:r>
            <a:r>
              <a:rPr lang="zh-CN" altLang="en-US" sz="1600" dirty="0"/>
              <a:t> </a:t>
            </a:r>
            <a:r>
              <a:rPr lang="en" altLang="zh-CN" sz="1600" dirty="0"/>
              <a:t>or a - bi, where a</a:t>
            </a:r>
            <a:r>
              <a:rPr lang="zh-CN" altLang="en-US" sz="1600" dirty="0"/>
              <a:t> </a:t>
            </a:r>
            <a:r>
              <a:rPr lang="en" altLang="zh-CN" sz="1600" dirty="0"/>
              <a:t>is the real part and b</a:t>
            </a:r>
            <a:r>
              <a:rPr lang="zh-CN" altLang="en-US" sz="1600" dirty="0"/>
              <a:t> </a:t>
            </a:r>
            <a:r>
              <a:rPr lang="en" altLang="zh-CN" sz="1600" dirty="0"/>
              <a:t>is the imaginary part.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" altLang="zh-CN" sz="2000" dirty="0"/>
              <a:t>Write a main</a:t>
            </a:r>
            <a:r>
              <a:rPr lang="zh-CN" altLang="en-US" sz="2000" dirty="0"/>
              <a:t> </a:t>
            </a:r>
            <a:r>
              <a:rPr lang="en" altLang="zh-CN" sz="2000" dirty="0"/>
              <a:t>function to thoroughly test all the implemented functionality of your Complex</a:t>
            </a:r>
            <a:r>
              <a:rPr lang="zh-CN" altLang="en-US" sz="2000" dirty="0"/>
              <a:t> </a:t>
            </a:r>
            <a:r>
              <a:rPr lang="en" altLang="zh-CN" sz="2000" dirty="0"/>
              <a:t>class.</a:t>
            </a:r>
          </a:p>
          <a:p>
            <a:pPr>
              <a:lnSpc>
                <a:spcPct val="100000"/>
              </a:lnSpc>
            </a:pPr>
            <a:endParaRPr lang="zh-CN" altLang="en-US" sz="2000" dirty="0"/>
          </a:p>
        </p:txBody>
      </p:sp>
      <p:sp>
        <p:nvSpPr>
          <p:cNvPr id="6" name="Title 1"/>
          <p:cNvSpPr txBox="1"/>
          <p:nvPr/>
        </p:nvSpPr>
        <p:spPr>
          <a:xfrm>
            <a:off x="1237352" y="396090"/>
            <a:ext cx="8100392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Exercises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j-cs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1452</Words>
  <Application>Microsoft Macintosh PowerPoint</Application>
  <PresentationFormat>宽屏</PresentationFormat>
  <Paragraphs>157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等线</vt:lpstr>
      <vt:lpstr>Arial</vt:lpstr>
      <vt:lpstr>Calibri</vt:lpstr>
      <vt:lpstr>Consolas</vt:lpstr>
      <vt:lpstr>Franklin Gothic Demi</vt:lpstr>
      <vt:lpstr>Franklin Gothic Medium</vt:lpstr>
      <vt:lpstr>Wingdings</vt:lpstr>
      <vt:lpstr>Office 主题</vt:lpstr>
      <vt:lpstr>Advanced Programming</vt:lpstr>
      <vt:lpstr>Topic</vt:lpstr>
      <vt:lpstr>Class Constructors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Static member variables</vt:lpstr>
      <vt:lpstr>Static member functions</vt:lpstr>
      <vt:lpstr>PowerPoint 演示文稿</vt:lpstr>
      <vt:lpstr>Const member variables</vt:lpstr>
      <vt:lpstr>Const member variables</vt:lpstr>
      <vt:lpstr>Const member functions</vt:lpstr>
      <vt:lpstr>Const member functions</vt:lpstr>
      <vt:lpstr>PowerPoint 演示文稿</vt:lpstr>
      <vt:lpstr>PowerPoint 演示文稿</vt:lpstr>
      <vt:lpstr>PowerPoint 演示文稿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836</cp:revision>
  <dcterms:created xsi:type="dcterms:W3CDTF">2020-09-05T08:11:00Z</dcterms:created>
  <dcterms:modified xsi:type="dcterms:W3CDTF">2026-04-20T09:22:30Z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739579C7EFA44A4AB4406E6E4EDFE2A4</vt:lpwstr>
  </property>
  <property fmtid="{D5CDD505-2E9C-101B-9397-08002B2CF9AE}" pid="3" name="KSOProductBuildVer">
    <vt:lpwstr>2052-12.1.0.20305</vt:lpwstr>
  </property>
</Properties>
</file>